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43A"/>
                </a:solidFill>
                <a:latin typeface="Arial"/>
              </a:defRPr>
            </a:pPr>
            <a:r>
              <a:rPr sz="1200" b="0" i="0" u="none" strike="noStrike">
                <a:solidFill>
                  <a:srgbClr val="2F343A"/>
                </a:solidFill>
                <a:latin typeface="Arial"/>
              </a:rPr>
              <a:t>Monthly visits from Google</a:t>
            </a:r>
          </a:p>
        </c:rich>
      </c:tx>
      <c:layout/>
      <c:overlay val="0"/>
    </c:title>
    <c:autoTitleDeleted val="0"/>
    <c:plotArea>
      <c:layout/>
      <c:barChart>
        <c:barDir val="col"/>
        <c:grouping val="clustered"/>
        <c:varyColors val="0"/>
        <c:ser>
          <c:idx val="0"/>
          <c:order val="0"/>
          <c:tx>
            <c:strRef>
              <c:f>Sheet1!$B$1</c:f>
              <c:strCache>
                <c:ptCount val="1"/>
                <c:pt idx="0">
                  <c:v>Monthly organic visits</c:v>
                </c:pt>
              </c:strCache>
            </c:strRef>
          </c:tx>
          <c:spPr>
            <a:solidFill>
              <a:srgbClr val="929194"/>
            </a:solidFill>
            <a:effectLst/>
          </c:spPr>
          <c:invertIfNegative val="0"/>
          <c:dLbls>
            <c:numFmt formatCode="#,##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dPt>
            <c:idx val="0"/>
            <c:invertIfNegative val="0"/>
            <c:bubble3D val="0"/>
            <c:spPr>
              <a:solidFill>
                <a:srgbClr val="929194"/>
              </a:solidFill>
              <a:effectLst/>
            </c:spPr>
          </c:dPt>
          <c:dPt>
            <c:idx val="1"/>
            <c:invertIfNegative val="0"/>
            <c:bubble3D val="0"/>
            <c:spPr>
              <a:solidFill>
                <a:srgbClr val="F27038"/>
              </a:solidFill>
              <a:effectLst/>
            </c:spPr>
          </c:dPt>
          <c:cat>
            <c:multiLvlStrRef>
              <c:f>Sheet1!$A$2:$A$3</c:f>
              <c:multiLvlStrCache>
                <c:ptCount val="2"/>
                <c:lvl>
                  <c:pt idx="0">
                    <c:v>12 months ago</c:v>
                  </c:pt>
                  <c:pt idx="1">
                    <c:v>Today</c:v>
                  </c:pt>
                </c:lvl>
              </c:multiLvlStrCache>
            </c:multiLvlStrRef>
          </c:cat>
          <c:val>
            <c:numRef>
              <c:f>Sheet1!$B$2:$B$3</c:f>
              <c:numCache>
                <c:formatCode>General</c:formatCode>
                <c:ptCount val="2"/>
                <c:pt idx="0">
                  <c:v>140000</c:v>
                </c:pt>
                <c:pt idx="1">
                  <c:v>85000</c:v>
                </c:pt>
              </c:numCache>
            </c:numRef>
          </c:val>
        </c:ser>
        <c:dLbls>
          <c:numFmt formatCode="#,##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160000"/>
          <c:min val="0"/>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lost visits</c:v>
                </c:pt>
              </c:strCache>
            </c:strRef>
          </c:tx>
          <c:spPr>
            <a:solidFill>
              <a:srgbClr val="F27038"/>
            </a:solidFill>
            <a:effectLst/>
          </c:spPr>
          <c:invertIfNegative val="0"/>
          <c:dLbls>
            <c:numFmt formatCode="0.0&quot;%&quot;"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cat>
            <c:multiLvlStrRef>
              <c:f>Sheet1!$A$2:$A$6</c:f>
              <c:multiLvlStrCache>
                <c:ptCount val="5"/>
                <c:lvl>
                  <c:pt idx="0">
                    <c:v>Old guides that competitors overtook</c:v>
                  </c:pt>
                  <c:pt idx="1">
                    <c:v>Pages with a year in the web address that expired</c:v>
                  </c:pt>
                  <c:pt idx="2">
                    <c:v>Off-topic pages (bookkeeping, accounting lists)</c:v>
                  </c:pt>
                  <c:pt idx="3">
                    <c:v>Pages where the rules changed but the page did not</c:v>
                  </c:pt>
                  <c:pt idx="4">
                    <c:v>Everything else, net</c:v>
                  </c:pt>
                </c:lvl>
              </c:multiLvlStrCache>
            </c:multiLvlStrRef>
          </c:cat>
          <c:val>
            <c:numRef>
              <c:f>Sheet1!$B$2:$B$6</c:f>
              <c:numCache>
                <c:formatCode>General</c:formatCode>
                <c:ptCount val="5"/>
                <c:pt idx="0">
                  <c:v>46.2</c:v>
                </c:pt>
                <c:pt idx="1">
                  <c:v>35</c:v>
                </c:pt>
                <c:pt idx="2">
                  <c:v>9.1</c:v>
                </c:pt>
                <c:pt idx="3">
                  <c:v>6.2</c:v>
                </c:pt>
                <c:pt idx="4">
                  <c:v>3.5</c:v>
                </c:pt>
              </c:numCache>
            </c:numRef>
          </c:val>
        </c:ser>
        <c:dLbls>
          <c:numFmt formatCode="0.0&quot;%&quot;"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43A"/>
                </a:solidFill>
                <a:latin typeface="Arial"/>
              </a:defRPr>
            </a:pPr>
            <a:r>
              <a:rPr sz="1200" b="0" i="0" u="none" strike="noStrike">
                <a:solidFill>
                  <a:srgbClr val="2F343A"/>
                </a:solidFill>
                <a:latin typeface="Arial"/>
              </a:rPr>
              <a:t>Average time since last update</a:t>
            </a:r>
          </a:p>
        </c:rich>
      </c:tx>
      <c:layout/>
      <c:overlay val="0"/>
    </c:title>
    <c:autoTitleDeleted val="0"/>
    <c:plotArea>
      <c:layout/>
      <c:barChart>
        <c:barDir val="col"/>
        <c:grouping val="clustered"/>
        <c:varyColors val="0"/>
        <c:ser>
          <c:idx val="0"/>
          <c:order val="0"/>
          <c:tx>
            <c:strRef>
              <c:f>Sheet1!$B$1</c:f>
              <c:strCache>
                <c:ptCount val="1"/>
                <c:pt idx="0">
                  <c:v>Months since the page was last updated</c:v>
                </c:pt>
              </c:strCache>
            </c:strRef>
          </c:tx>
          <c:spPr>
            <a:solidFill>
              <a:srgbClr val="F27038"/>
            </a:solidFill>
            <a:effectLst/>
          </c:spPr>
          <c:invertIfNegative val="0"/>
          <c:dLbls>
            <c:numFmt formatCode="0&quot; months&quot;"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dPt>
            <c:idx val="0"/>
            <c:invertIfNegative val="0"/>
            <c:bubble3D val="0"/>
            <c:spPr>
              <a:solidFill>
                <a:srgbClr val="F27038"/>
              </a:solidFill>
              <a:effectLst/>
            </c:spPr>
          </c:dPt>
          <c:dPt>
            <c:idx val="1"/>
            <c:invertIfNegative val="0"/>
            <c:bubble3D val="0"/>
            <c:spPr>
              <a:solidFill>
                <a:srgbClr val="2F343A"/>
              </a:solidFill>
              <a:effectLst/>
            </c:spPr>
          </c:dPt>
          <c:cat>
            <c:multiLvlStrRef>
              <c:f>Sheet1!$A$2:$A$3</c:f>
              <c:multiLvlStrCache>
                <c:ptCount val="2"/>
                <c:lvl>
                  <c:pt idx="0">
                    <c:v>Pages that dropped (13 pages)</c:v>
                  </c:pt>
                  <c:pt idx="1">
                    <c:v>Pages that held or grew (5 pages)</c:v>
                  </c:pt>
                </c:lvl>
              </c:multiLvlStrCache>
            </c:multiLvlStrRef>
          </c:cat>
          <c:val>
            <c:numRef>
              <c:f>Sheet1!$B$2:$B$3</c:f>
              <c:numCache>
                <c:formatCode>General</c:formatCode>
                <c:ptCount val="2"/>
                <c:pt idx="0">
                  <c:v>39</c:v>
                </c:pt>
                <c:pt idx="1">
                  <c:v>21</c:v>
                </c:pt>
              </c:numCache>
            </c:numRef>
          </c:val>
        </c:ser>
        <c:dLbls>
          <c:numFmt formatCode="0&quot; months&quot;"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48"/>
          <c:min val="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43A"/>
                </a:solidFill>
                <a:latin typeface="Arial"/>
              </a:defRPr>
            </a:pPr>
            <a:r>
              <a:rPr sz="1200" b="0" i="0" u="none" strike="noStrike">
                <a:solidFill>
                  <a:srgbClr val="2F343A"/>
                </a:solidFill>
                <a:latin typeface="Arial"/>
              </a:rPr>
              <a:t>Number of websites linking to the page</a:t>
            </a:r>
          </a:p>
        </c:rich>
      </c:tx>
      <c:layout/>
      <c:overlay val="0"/>
    </c:title>
    <c:autoTitleDeleted val="0"/>
    <c:plotArea>
      <c:layout/>
      <c:barChart>
        <c:barDir val="col"/>
        <c:grouping val="clustered"/>
        <c:varyColors val="0"/>
        <c:ser>
          <c:idx val="0"/>
          <c:order val="0"/>
          <c:tx>
            <c:strRef>
              <c:f>Sheet1!$B$1</c:f>
              <c:strCache>
                <c:ptCount val="1"/>
                <c:pt idx="0">
                  <c:v>Pages that fell</c:v>
                </c:pt>
              </c:strCache>
            </c:strRef>
          </c:tx>
          <c:spPr>
            <a:solidFill>
              <a:srgbClr val="F27038"/>
            </a:solidFill>
            <a:effectLst/>
          </c:spPr>
          <c:invertIfNegative val="0"/>
          <c:dLbls>
            <c:numFmt formatCode="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cat>
            <c:multiLvlStrRef>
              <c:f>Sheet1!$A$2:$A$7</c:f>
              <c:multiLvlStrCache>
                <c:ptCount val="6"/>
                <c:lvl>
                  <c:pt idx="0">
                    <c:v>Expense mgmt guide</c:v>
                  </c:pt>
                  <c:pt idx="1">
                    <c:v>Fraud statistics</c:v>
                  </c:pt>
                  <c:pt idx="2">
                    <c:v>Corporate card guide</c:v>
                  </c:pt>
                  <c:pt idx="3">
                    <c:v>Expense categories</c:v>
                  </c:pt>
                  <c:pt idx="4">
                    <c:v>Travel policy</c:v>
                  </c:pt>
                  <c:pt idx="5">
                    <c:v>Spend mgmt guide</c:v>
                  </c:pt>
                </c:lvl>
              </c:multiLvlStrCache>
            </c:multiLvlStrRef>
          </c:cat>
          <c:val>
            <c:numRef>
              <c:f>Sheet1!$B$2:$B$7</c:f>
              <c:numCache>
                <c:formatCode>General</c:formatCode>
                <c:ptCount val="6"/>
                <c:pt idx="0">
                  <c:v>84</c:v>
                </c:pt>
                <c:pt idx="1">
                  <c:v>74</c:v>
                </c:pt>
                <c:pt idx="2">
                  <c:v>61</c:v>
                </c:pt>
                <c:pt idx="3">
                  <c:v>52</c:v>
                </c:pt>
                <c:pt idx="4">
                  <c:v>0</c:v>
                </c:pt>
                <c:pt idx="5">
                  <c:v>0</c:v>
                </c:pt>
              </c:numCache>
            </c:numRef>
          </c:val>
        </c:ser>
        <c:ser>
          <c:idx val="1"/>
          <c:order val="1"/>
          <c:tx>
            <c:strRef>
              <c:f>Sheet1!$C$1</c:f>
              <c:strCache>
                <c:ptCount val="1"/>
                <c:pt idx="0">
                  <c:v>Pages that grew</c:v>
                </c:pt>
              </c:strCache>
            </c:strRef>
          </c:tx>
          <c:spPr>
            <a:solidFill>
              <a:srgbClr val="2F343A"/>
            </a:solidFill>
            <a:effectLst/>
          </c:spPr>
          <c:invertIfNegative val="0"/>
          <c:dLbls>
            <c:numFmt formatCode="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cat>
            <c:multiLvlStrRef>
              <c:f>Sheet1!$A$2:$A$7</c:f>
              <c:multiLvlStrCache>
                <c:ptCount val="6"/>
                <c:lvl>
                  <c:pt idx="0">
                    <c:v>Expense mgmt guide</c:v>
                  </c:pt>
                  <c:pt idx="1">
                    <c:v>Fraud statistics</c:v>
                  </c:pt>
                  <c:pt idx="2">
                    <c:v>Corporate card guide</c:v>
                  </c:pt>
                  <c:pt idx="3">
                    <c:v>Expense categories</c:v>
                  </c:pt>
                  <c:pt idx="4">
                    <c:v>Travel policy</c:v>
                  </c:pt>
                  <c:pt idx="5">
                    <c:v>Spend mgmt guide</c:v>
                  </c:pt>
                </c:lvl>
              </c:multiLvlStrCache>
            </c:multiLvlStrRef>
          </c:cat>
          <c:val>
            <c:numRef>
              <c:f>Sheet1!$C$2:$C$7</c:f>
              <c:numCache>
                <c:formatCode>General</c:formatCode>
                <c:ptCount val="6"/>
                <c:pt idx="0">
                  <c:v>0</c:v>
                </c:pt>
                <c:pt idx="1">
                  <c:v>0</c:v>
                </c:pt>
                <c:pt idx="2">
                  <c:v>0</c:v>
                </c:pt>
                <c:pt idx="3">
                  <c:v>0</c:v>
                </c:pt>
                <c:pt idx="4">
                  <c:v>26</c:v>
                </c:pt>
                <c:pt idx="5">
                  <c:v>11</c:v>
                </c:pt>
              </c:numCache>
            </c:numRef>
          </c:val>
        </c:ser>
        <c:dLbls>
          <c:numFmt formatCode="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0D0"/>
            </a:solidFill>
            <a:prstDash val="solid"/>
            <a:round/>
          </a:ln>
        </c:spPr>
        <c:txPr>
          <a:bodyPr/>
          <a:lstStyle/>
          <a:p>
            <a:pPr>
              <a:defRPr sz="10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2C2F33"/>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43A"/>
                </a:solidFill>
                <a:latin typeface="Arial"/>
              </a:defRPr>
            </a:pPr>
            <a:r>
              <a:rPr sz="1200" b="0" i="0" u="none" strike="noStrike">
                <a:solidFill>
                  <a:srgbClr val="2F343A"/>
                </a:solidFill>
                <a:latin typeface="Arial"/>
              </a:rPr>
              <a:t>The 35,710 monthly visits your top pages lost, split by whether the page ever produces a lead</a:t>
            </a:r>
          </a:p>
        </c:rich>
      </c:tx>
      <c:layout/>
      <c:overlay val="0"/>
    </c:title>
    <c:autoTitleDeleted val="0"/>
    <c:plotArea>
      <c:layout/>
      <c:barChart>
        <c:barDir val="bar"/>
        <c:grouping val="stacked"/>
        <c:varyColors val="0"/>
        <c:ser>
          <c:idx val="0"/>
          <c:order val="0"/>
          <c:tx>
            <c:strRef>
              <c:f>Sheet1!$B$1</c:f>
              <c:strCache>
                <c:ptCount val="1"/>
                <c:pt idx="0">
                  <c:v>From pages with zero leads: 16,460</c:v>
                </c:pt>
              </c:strCache>
            </c:strRef>
          </c:tx>
          <c:spPr>
            <a:solidFill>
              <a:srgbClr val="F27038"/>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Lost visits</c:v>
                  </c:pt>
                </c:lvl>
              </c:multiLvlStrCache>
            </c:multiLvlStrRef>
          </c:cat>
          <c:val>
            <c:numRef>
              <c:f>Sheet1!$B$2:$B$2</c:f>
              <c:numCache>
                <c:formatCode>General</c:formatCode>
                <c:ptCount val="1"/>
                <c:pt idx="0">
                  <c:v>16460</c:v>
                </c:pt>
              </c:numCache>
            </c:numRef>
          </c:val>
        </c:ser>
        <c:ser>
          <c:idx val="1"/>
          <c:order val="1"/>
          <c:tx>
            <c:strRef>
              <c:f>Sheet1!$C$1</c:f>
              <c:strCache>
                <c:ptCount val="1"/>
                <c:pt idx="0">
                  <c:v>From pages that produce leads: 19,250</c:v>
                </c:pt>
              </c:strCache>
            </c:strRef>
          </c:tx>
          <c:spPr>
            <a:solidFill>
              <a:srgbClr val="2F343A"/>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Lost visits</c:v>
                  </c:pt>
                </c:lvl>
              </c:multiLvlStrCache>
            </c:multiLvlStrRef>
          </c:cat>
          <c:val>
            <c:numRef>
              <c:f>Sheet1!$C$2:$C$2</c:f>
              <c:numCache>
                <c:formatCode>General</c:formatCode>
                <c:ptCount val="1"/>
                <c:pt idx="0">
                  <c:v>19250</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2F33"/>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Leads per 1,000 visits</c:v>
                </c:pt>
              </c:strCache>
            </c:strRef>
          </c:tx>
          <c:spPr>
            <a:solidFill>
              <a:srgbClr val="F27038"/>
            </a:solidFill>
            <a:effectLst/>
          </c:spPr>
          <c:invertIfNegative val="0"/>
          <c:dLbls>
            <c:numFmt formatCode="0.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cat>
            <c:multiLvlStrRef>
              <c:f>Sheet1!$A$2:$A$6</c:f>
              <c:multiLvlStrCache>
                <c:ptCount val="5"/>
                <c:lvl>
                  <c:pt idx="0">
                    <c:v>Comparison pages (vs Ramp, vs Brex)</c:v>
                  </c:pt>
                  <c:pt idx="1">
                    <c:v>Corporate card guide</c:v>
                  </c:pt>
                  <c:pt idx="2">
                    <c:v>Core expense management guides and templates</c:v>
                  </c:pt>
                  <c:pt idx="3">
                    <c:v>Rates and deadlines pages</c:v>
                  </c:pt>
                  <c:pt idx="4">
                    <c:v>Off-topic finance pages</c:v>
                  </c:pt>
                </c:lvl>
              </c:multiLvlStrCache>
            </c:multiLvlStrRef>
          </c:cat>
          <c:val>
            <c:numRef>
              <c:f>Sheet1!$B$2:$B$6</c:f>
              <c:numCache>
                <c:formatCode>General</c:formatCode>
                <c:ptCount val="5"/>
                <c:pt idx="0">
                  <c:v>12</c:v>
                </c:pt>
                <c:pt idx="1">
                  <c:v>2.5</c:v>
                </c:pt>
                <c:pt idx="2">
                  <c:v>0.68</c:v>
                </c:pt>
                <c:pt idx="3">
                  <c:v>0.61</c:v>
                </c:pt>
                <c:pt idx="4">
                  <c:v>0</c:v>
                </c:pt>
              </c:numCache>
            </c:numRef>
          </c:val>
        </c:ser>
        <c:dLbls>
          <c:numFmt formatCode="0.0" sourceLinked="0"/>
          <c:txPr>
            <a:bodyPr/>
            <a:lstStyle/>
            <a:p>
              <a:pPr>
                <a:defRPr b="0" i="0" strike="noStrike" sz="1100" u="none">
                  <a:solidFill>
                    <a:srgbClr val="2C2F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14"/>
          <c:min val="0"/>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43A"/>
                </a:solidFill>
                <a:latin typeface="Arial"/>
              </a:defRPr>
            </a:pPr>
            <a:r>
              <a:rPr sz="1200" b="0" i="0" u="none" strike="noStrike">
                <a:solidFill>
                  <a:srgbClr val="2F343A"/>
                </a:solidFill>
                <a:latin typeface="Arial"/>
              </a:rPr>
              <a:t>Monthly visits from Google (three scenarios)</a:t>
            </a:r>
          </a:p>
        </c:rich>
      </c:tx>
      <c:layout/>
      <c:overlay val="0"/>
    </c:title>
    <c:autoTitleDeleted val="0"/>
    <c:plotArea>
      <c:layout/>
      <c:lineChart>
        <c:varyColors val="0"/>
        <c:ser>
          <c:idx val="0"/>
          <c:order val="0"/>
          <c:tx>
            <c:strRef>
              <c:f>Sheet1!$B$1</c:f>
              <c:strCache>
                <c:ptCount val="1"/>
                <c:pt idx="0">
                  <c:v>Stretch</c:v>
                </c:pt>
              </c:strCache>
            </c:strRef>
          </c:tx>
          <c:spPr>
            <a:solidFill>
              <a:srgbClr val="929194"/>
            </a:solidFill>
            <a:ln w="31750" cap="flat">
              <a:solidFill>
                <a:srgbClr val="929194"/>
              </a:solidFill>
              <a:prstDash val="solid"/>
              <a:round/>
            </a:ln>
            <a:effectLst/>
          </c:spPr>
          <c:invertIfNegative val="0"/>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c:symbol val="circle"/>
            <c:size val="7"/>
            <c:spPr>
              <a:solidFill>
                <a:srgbClr val="929194"/>
              </a:solidFill>
              <a:ln w="9525" cap="flat">
                <a:solidFill>
                  <a:srgbClr val="929194"/>
                </a:solidFill>
                <a:prstDash val="solid"/>
                <a:round/>
              </a:ln>
              <a:effectLst/>
            </c:spPr>
          </c:marker>
          <c:cat>
            <c:multiLvlStrRef>
              <c:f>Sheet1!$A$2:$A$6</c:f>
              <c:multiLvlStrCache>
                <c:ptCount val="5"/>
                <c:lvl>
                  <c:pt idx="0">
                    <c:v>Today</c:v>
                  </c:pt>
                  <c:pt idx="1">
                    <c:v>Month 3</c:v>
                  </c:pt>
                  <c:pt idx="2">
                    <c:v>Month 6</c:v>
                  </c:pt>
                  <c:pt idx="3">
                    <c:v>Month 9</c:v>
                  </c:pt>
                  <c:pt idx="4">
                    <c:v>Month 12</c:v>
                  </c:pt>
                </c:lvl>
              </c:multiLvlStrCache>
            </c:multiLvlStrRef>
          </c:cat>
          <c:val>
            <c:numRef>
              <c:f>Sheet1!$B$2:$B$6</c:f>
              <c:numCache>
                <c:formatCode>General</c:formatCode>
                <c:ptCount val="5"/>
                <c:pt idx="0">
                  <c:v>85000</c:v>
                </c:pt>
                <c:pt idx="1">
                  <c:v>95000</c:v>
                </c:pt>
                <c:pt idx="2">
                  <c:v>112000</c:v>
                </c:pt>
                <c:pt idx="3">
                  <c:v>126000</c:v>
                </c:pt>
                <c:pt idx="4">
                  <c:v>136000</c:v>
                </c:pt>
              </c:numCache>
            </c:numRef>
          </c:val>
          <c:smooth val="0"/>
        </c:ser>
        <c:ser>
          <c:idx val="1"/>
          <c:order val="1"/>
          <c:tx>
            <c:strRef>
              <c:f>Sheet1!$C$1</c:f>
              <c:strCache>
                <c:ptCount val="1"/>
                <c:pt idx="0">
                  <c:v>Base</c:v>
                </c:pt>
              </c:strCache>
            </c:strRef>
          </c:tx>
          <c:spPr>
            <a:solidFill>
              <a:srgbClr val="F27038"/>
            </a:solidFill>
            <a:ln w="31750" cap="flat">
              <a:solidFill>
                <a:srgbClr val="F27038"/>
              </a:solidFill>
              <a:prstDash val="solid"/>
              <a:round/>
            </a:ln>
            <a:effectLst/>
          </c:spPr>
          <c:invertIfNegative val="0"/>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c:symbol val="circle"/>
            <c:size val="7"/>
            <c:spPr>
              <a:solidFill>
                <a:srgbClr val="F27038"/>
              </a:solidFill>
              <a:ln w="9525" cap="flat">
                <a:solidFill>
                  <a:srgbClr val="F27038"/>
                </a:solidFill>
                <a:prstDash val="solid"/>
                <a:round/>
              </a:ln>
              <a:effectLst/>
            </c:spPr>
          </c:marker>
          <c:cat>
            <c:multiLvlStrRef>
              <c:f>Sheet1!$A$2:$A$6</c:f>
              <c:multiLvlStrCache>
                <c:ptCount val="5"/>
                <c:lvl>
                  <c:pt idx="0">
                    <c:v>Today</c:v>
                  </c:pt>
                  <c:pt idx="1">
                    <c:v>Month 3</c:v>
                  </c:pt>
                  <c:pt idx="2">
                    <c:v>Month 6</c:v>
                  </c:pt>
                  <c:pt idx="3">
                    <c:v>Month 9</c:v>
                  </c:pt>
                  <c:pt idx="4">
                    <c:v>Month 12</c:v>
                  </c:pt>
                </c:lvl>
              </c:multiLvlStrCache>
            </c:multiLvlStrRef>
          </c:cat>
          <c:val>
            <c:numRef>
              <c:f>Sheet1!$C$2:$C$6</c:f>
              <c:numCache>
                <c:formatCode>General</c:formatCode>
                <c:ptCount val="5"/>
                <c:pt idx="0">
                  <c:v>85000</c:v>
                </c:pt>
                <c:pt idx="1">
                  <c:v>92000</c:v>
                </c:pt>
                <c:pt idx="2">
                  <c:v>105000</c:v>
                </c:pt>
                <c:pt idx="3">
                  <c:v>113000</c:v>
                </c:pt>
                <c:pt idx="4">
                  <c:v>117000</c:v>
                </c:pt>
              </c:numCache>
            </c:numRef>
          </c:val>
          <c:smooth val="0"/>
        </c:ser>
        <c:ser>
          <c:idx val="2"/>
          <c:order val="2"/>
          <c:tx>
            <c:strRef>
              <c:f>Sheet1!$D$1</c:f>
              <c:strCache>
                <c:ptCount val="1"/>
                <c:pt idx="0">
                  <c:v>Low</c:v>
                </c:pt>
              </c:strCache>
            </c:strRef>
          </c:tx>
          <c:spPr>
            <a:solidFill>
              <a:srgbClr val="929194"/>
            </a:solidFill>
            <a:ln w="31750" cap="flat">
              <a:solidFill>
                <a:srgbClr val="929194"/>
              </a:solidFill>
              <a:prstDash val="solid"/>
              <a:round/>
            </a:ln>
            <a:effectLst/>
          </c:spPr>
          <c:invertIfNegative val="0"/>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c:symbol val="circle"/>
            <c:size val="7"/>
            <c:spPr>
              <a:solidFill>
                <a:srgbClr val="929194"/>
              </a:solidFill>
              <a:ln w="9525" cap="flat">
                <a:solidFill>
                  <a:srgbClr val="929194"/>
                </a:solidFill>
                <a:prstDash val="solid"/>
                <a:round/>
              </a:ln>
              <a:effectLst/>
            </c:spPr>
          </c:marker>
          <c:cat>
            <c:multiLvlStrRef>
              <c:f>Sheet1!$A$2:$A$6</c:f>
              <c:multiLvlStrCache>
                <c:ptCount val="5"/>
                <c:lvl>
                  <c:pt idx="0">
                    <c:v>Today</c:v>
                  </c:pt>
                  <c:pt idx="1">
                    <c:v>Month 3</c:v>
                  </c:pt>
                  <c:pt idx="2">
                    <c:v>Month 6</c:v>
                  </c:pt>
                  <c:pt idx="3">
                    <c:v>Month 9</c:v>
                  </c:pt>
                  <c:pt idx="4">
                    <c:v>Month 12</c:v>
                  </c:pt>
                </c:lvl>
              </c:multiLvlStrCache>
            </c:multiLvlStrRef>
          </c:cat>
          <c:val>
            <c:numRef>
              <c:f>Sheet1!$D$2:$D$6</c:f>
              <c:numCache>
                <c:formatCode>General</c:formatCode>
                <c:ptCount val="5"/>
                <c:pt idx="0">
                  <c:v>85000</c:v>
                </c:pt>
                <c:pt idx="1">
                  <c:v>88000</c:v>
                </c:pt>
                <c:pt idx="2">
                  <c:v>93000</c:v>
                </c:pt>
                <c:pt idx="3">
                  <c:v>98000</c:v>
                </c:pt>
                <c:pt idx="4">
                  <c:v>101000</c:v>
                </c:pt>
              </c:numCache>
            </c:numRef>
          </c:val>
          <c:smooth val="0"/>
        </c:ser>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150000"/>
          <c:min val="60000"/>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2F33"/>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43A"/>
                </a:solidFill>
                <a:latin typeface="Arial"/>
              </a:defRPr>
            </a:pPr>
            <a:r>
              <a:rPr sz="1200" b="0" i="0" u="none" strike="noStrike">
                <a:solidFill>
                  <a:srgbClr val="2F343A"/>
                </a:solidFill>
                <a:latin typeface="Arial"/>
              </a:rPr>
              <a:t>Qualified leads from search, today = 100 (three scenarios)</a:t>
            </a:r>
          </a:p>
        </c:rich>
      </c:tx>
      <c:layout/>
      <c:overlay val="0"/>
    </c:title>
    <c:autoTitleDeleted val="0"/>
    <c:plotArea>
      <c:layout/>
      <c:lineChart>
        <c:varyColors val="0"/>
        <c:ser>
          <c:idx val="0"/>
          <c:order val="0"/>
          <c:tx>
            <c:strRef>
              <c:f>Sheet1!$B$1</c:f>
              <c:strCache>
                <c:ptCount val="1"/>
                <c:pt idx="0">
                  <c:v>Stretch</c:v>
                </c:pt>
              </c:strCache>
            </c:strRef>
          </c:tx>
          <c:spPr>
            <a:solidFill>
              <a:srgbClr val="929194"/>
            </a:solidFill>
            <a:ln w="31750" cap="flat">
              <a:solidFill>
                <a:srgbClr val="929194"/>
              </a:solidFill>
              <a:prstDash val="solid"/>
              <a:round/>
            </a:ln>
            <a:effectLst/>
          </c:spPr>
          <c:invertIfNegative val="0"/>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c:symbol val="circle"/>
            <c:size val="7"/>
            <c:spPr>
              <a:solidFill>
                <a:srgbClr val="929194"/>
              </a:solidFill>
              <a:ln w="9525" cap="flat">
                <a:solidFill>
                  <a:srgbClr val="929194"/>
                </a:solidFill>
                <a:prstDash val="solid"/>
                <a:round/>
              </a:ln>
              <a:effectLst/>
            </c:spPr>
          </c:marker>
          <c:cat>
            <c:multiLvlStrRef>
              <c:f>Sheet1!$A$2:$A$6</c:f>
              <c:multiLvlStrCache>
                <c:ptCount val="5"/>
                <c:lvl>
                  <c:pt idx="0">
                    <c:v>Today</c:v>
                  </c:pt>
                  <c:pt idx="1">
                    <c:v>Month 3</c:v>
                  </c:pt>
                  <c:pt idx="2">
                    <c:v>Month 6</c:v>
                  </c:pt>
                  <c:pt idx="3">
                    <c:v>Month 9</c:v>
                  </c:pt>
                  <c:pt idx="4">
                    <c:v>Month 12</c:v>
                  </c:pt>
                </c:lvl>
              </c:multiLvlStrCache>
            </c:multiLvlStrRef>
          </c:cat>
          <c:val>
            <c:numRef>
              <c:f>Sheet1!$B$2:$B$6</c:f>
              <c:numCache>
                <c:formatCode>General</c:formatCode>
                <c:ptCount val="5"/>
                <c:pt idx="0">
                  <c:v>100</c:v>
                </c:pt>
                <c:pt idx="1">
                  <c:v>125</c:v>
                </c:pt>
                <c:pt idx="2">
                  <c:v>180</c:v>
                </c:pt>
                <c:pt idx="3">
                  <c:v>245</c:v>
                </c:pt>
                <c:pt idx="4">
                  <c:v>304</c:v>
                </c:pt>
              </c:numCache>
            </c:numRef>
          </c:val>
          <c:smooth val="0"/>
        </c:ser>
        <c:ser>
          <c:idx val="1"/>
          <c:order val="1"/>
          <c:tx>
            <c:strRef>
              <c:f>Sheet1!$C$1</c:f>
              <c:strCache>
                <c:ptCount val="1"/>
                <c:pt idx="0">
                  <c:v>Base</c:v>
                </c:pt>
              </c:strCache>
            </c:strRef>
          </c:tx>
          <c:spPr>
            <a:solidFill>
              <a:srgbClr val="2F343A"/>
            </a:solidFill>
            <a:ln w="31750" cap="flat">
              <a:solidFill>
                <a:srgbClr val="2F343A"/>
              </a:solidFill>
              <a:prstDash val="solid"/>
              <a:round/>
            </a:ln>
            <a:effectLst/>
          </c:spPr>
          <c:invertIfNegative val="0"/>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c:symbol val="circle"/>
            <c:size val="7"/>
            <c:spPr>
              <a:solidFill>
                <a:srgbClr val="2F343A"/>
              </a:solidFill>
              <a:ln w="9525" cap="flat">
                <a:solidFill>
                  <a:srgbClr val="2F343A"/>
                </a:solidFill>
                <a:prstDash val="solid"/>
                <a:round/>
              </a:ln>
              <a:effectLst/>
            </c:spPr>
          </c:marker>
          <c:cat>
            <c:multiLvlStrRef>
              <c:f>Sheet1!$A$2:$A$6</c:f>
              <c:multiLvlStrCache>
                <c:ptCount val="5"/>
                <c:lvl>
                  <c:pt idx="0">
                    <c:v>Today</c:v>
                  </c:pt>
                  <c:pt idx="1">
                    <c:v>Month 3</c:v>
                  </c:pt>
                  <c:pt idx="2">
                    <c:v>Month 6</c:v>
                  </c:pt>
                  <c:pt idx="3">
                    <c:v>Month 9</c:v>
                  </c:pt>
                  <c:pt idx="4">
                    <c:v>Month 12</c:v>
                  </c:pt>
                </c:lvl>
              </c:multiLvlStrCache>
            </c:multiLvlStrRef>
          </c:cat>
          <c:val>
            <c:numRef>
              <c:f>Sheet1!$C$2:$C$6</c:f>
              <c:numCache>
                <c:formatCode>General</c:formatCode>
                <c:ptCount val="5"/>
                <c:pt idx="0">
                  <c:v>100</c:v>
                </c:pt>
                <c:pt idx="1">
                  <c:v>115</c:v>
                </c:pt>
                <c:pt idx="2">
                  <c:v>150</c:v>
                </c:pt>
                <c:pt idx="3">
                  <c:v>180</c:v>
                </c:pt>
                <c:pt idx="4">
                  <c:v>220</c:v>
                </c:pt>
              </c:numCache>
            </c:numRef>
          </c:val>
          <c:smooth val="0"/>
        </c:ser>
        <c:ser>
          <c:idx val="2"/>
          <c:order val="2"/>
          <c:tx>
            <c:strRef>
              <c:f>Sheet1!$D$1</c:f>
              <c:strCache>
                <c:ptCount val="1"/>
                <c:pt idx="0">
                  <c:v>Low</c:v>
                </c:pt>
              </c:strCache>
            </c:strRef>
          </c:tx>
          <c:spPr>
            <a:solidFill>
              <a:srgbClr val="929194"/>
            </a:solidFill>
            <a:ln w="31750" cap="flat">
              <a:solidFill>
                <a:srgbClr val="929194"/>
              </a:solidFill>
              <a:prstDash val="solid"/>
              <a:round/>
            </a:ln>
            <a:effectLst/>
          </c:spPr>
          <c:invertIfNegative val="0"/>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c:symbol val="circle"/>
            <c:size val="7"/>
            <c:spPr>
              <a:solidFill>
                <a:srgbClr val="929194"/>
              </a:solidFill>
              <a:ln w="9525" cap="flat">
                <a:solidFill>
                  <a:srgbClr val="929194"/>
                </a:solidFill>
                <a:prstDash val="solid"/>
                <a:round/>
              </a:ln>
              <a:effectLst/>
            </c:spPr>
          </c:marker>
          <c:cat>
            <c:multiLvlStrRef>
              <c:f>Sheet1!$A$2:$A$6</c:f>
              <c:multiLvlStrCache>
                <c:ptCount val="5"/>
                <c:lvl>
                  <c:pt idx="0">
                    <c:v>Today</c:v>
                  </c:pt>
                  <c:pt idx="1">
                    <c:v>Month 3</c:v>
                  </c:pt>
                  <c:pt idx="2">
                    <c:v>Month 6</c:v>
                  </c:pt>
                  <c:pt idx="3">
                    <c:v>Month 9</c:v>
                  </c:pt>
                  <c:pt idx="4">
                    <c:v>Month 12</c:v>
                  </c:pt>
                </c:lvl>
              </c:multiLvlStrCache>
            </c:multiLvlStrRef>
          </c:cat>
          <c:val>
            <c:numRef>
              <c:f>Sheet1!$D$2:$D$6</c:f>
              <c:numCache>
                <c:formatCode>General</c:formatCode>
                <c:ptCount val="5"/>
                <c:pt idx="0">
                  <c:v>100</c:v>
                </c:pt>
                <c:pt idx="1">
                  <c:v>108</c:v>
                </c:pt>
                <c:pt idx="2">
                  <c:v>125</c:v>
                </c:pt>
                <c:pt idx="3">
                  <c:v>140</c:v>
                </c:pt>
                <c:pt idx="4">
                  <c:v>154</c:v>
                </c:pt>
              </c:numCache>
            </c:numRef>
          </c:val>
          <c:smooth val="0"/>
        </c:ser>
        <c:dLbls>
          <c:numFmt formatCode="#,##0" sourceLinked="0"/>
          <c:txPr>
            <a:bodyPr/>
            <a:lstStyle/>
            <a:p>
              <a:pPr>
                <a:defRPr b="0" i="0" strike="noStrike" sz="1100" u="none">
                  <a:solidFill>
                    <a:srgbClr val="2C2F33"/>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0D0D0"/>
            </a:solidFill>
            <a:prstDash val="solid"/>
            <a:round/>
          </a:ln>
        </c:spPr>
        <c:txPr>
          <a:bodyPr/>
          <a:lstStyle/>
          <a:p>
            <a:pPr>
              <a:defRPr sz="1100" b="0" i="0" u="none" strike="noStrike">
                <a:solidFill>
                  <a:srgbClr val="2C2F33"/>
                </a:solidFill>
                <a:latin typeface="Arial"/>
              </a:defRPr>
            </a:pPr>
            <a:endParaRPr lang="en-US"/>
          </a:p>
        </c:txPr>
        <c:crossAx val="2094734552"/>
        <c:crosses val="autoZero"/>
        <c:auto val="1"/>
        <c:lblAlgn val="ctr"/>
        <c:noMultiLvlLbl val="1"/>
      </c:catAx>
      <c:valAx>
        <c:axId val="2094734552"/>
        <c:scaling>
          <c:orientation val="minMax"/>
          <c:max val="35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92919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2F33"/>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020"/>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27038"/>
          </a:solidFill>
          <a:ln w="12700">
            <a:solidFill>
              <a:srgbClr val="F27038"/>
            </a:solidFill>
            <a:prstDash val="solid"/>
          </a:ln>
        </p:spPr>
      </p:sp>
      <p:sp>
        <p:nvSpPr>
          <p:cNvPr id="3" name="Text 1"/>
          <p:cNvSpPr/>
          <p:nvPr/>
        </p:nvSpPr>
        <p:spPr>
          <a:xfrm>
            <a:off x="822960" y="548640"/>
            <a:ext cx="201168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Single</a:t>
            </a:r>
            <a:pPr indent="0" marL="0">
              <a:buNone/>
            </a:pPr>
            <a:r>
              <a:rPr lang="en-US" sz="2000" b="1" dirty="0">
                <a:solidFill>
                  <a:srgbClr val="F27038"/>
                </a:solidFill>
                <a:latin typeface="Arial" pitchFamily="34" charset="0"/>
                <a:ea typeface="Arial" pitchFamily="34" charset="-122"/>
                <a:cs typeface="Arial" pitchFamily="34" charset="-120"/>
              </a:rPr>
              <a:t>Grain</a:t>
            </a:r>
            <a:endParaRPr lang="en-US" sz="2000" dirty="0"/>
          </a:p>
        </p:txBody>
      </p:sp>
      <p:sp>
        <p:nvSpPr>
          <p:cNvPr id="4" name="Text 2"/>
          <p:cNvSpPr/>
          <p:nvPr/>
        </p:nvSpPr>
        <p:spPr>
          <a:xfrm>
            <a:off x="822960" y="2011680"/>
            <a:ext cx="10424160" cy="17373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Organic search: why traffic fell, and the plan to grow what matters</a:t>
            </a:r>
            <a:endParaRPr lang="en-US" sz="3800" dirty="0"/>
          </a:p>
        </p:txBody>
      </p:sp>
      <p:sp>
        <p:nvSpPr>
          <p:cNvPr id="5" name="Text 3"/>
          <p:cNvSpPr/>
          <p:nvPr/>
        </p:nvSpPr>
        <p:spPr>
          <a:xfrm>
            <a:off x="822960" y="3794760"/>
            <a:ext cx="10058400" cy="548640"/>
          </a:xfrm>
          <a:prstGeom prst="rect">
            <a:avLst/>
          </a:prstGeom>
          <a:noFill/>
          <a:ln/>
        </p:spPr>
        <p:txBody>
          <a:bodyPr wrap="square" lIns="0" tIns="0" rIns="0" bIns="0" rtlCol="0" anchor="ctr"/>
          <a:lstStyle/>
          <a:p>
            <a:pPr indent="0" marL="0">
              <a:buNone/>
            </a:pPr>
            <a:r>
              <a:rPr lang="en-US" sz="2000" dirty="0">
                <a:solidFill>
                  <a:srgbClr val="E9EFF4"/>
                </a:solidFill>
                <a:latin typeface="Arial" pitchFamily="34" charset="0"/>
                <a:ea typeface="Arial" pitchFamily="34" charset="-122"/>
                <a:cs typeface="Arial" pitchFamily="34" charset="-120"/>
              </a:rPr>
              <a:t>A 12-month recovery plan, and a better way to measure it</a:t>
            </a:r>
            <a:endParaRPr lang="en-US" sz="2000" dirty="0"/>
          </a:p>
        </p:txBody>
      </p:sp>
      <p:sp>
        <p:nvSpPr>
          <p:cNvPr id="6" name="Shape 4"/>
          <p:cNvSpPr/>
          <p:nvPr/>
        </p:nvSpPr>
        <p:spPr>
          <a:xfrm>
            <a:off x="822960" y="4572000"/>
            <a:ext cx="1463040" cy="54864"/>
          </a:xfrm>
          <a:prstGeom prst="rect">
            <a:avLst/>
          </a:prstGeom>
          <a:solidFill>
            <a:srgbClr val="F27038"/>
          </a:solidFill>
          <a:ln w="12700">
            <a:solidFill>
              <a:srgbClr val="F27038"/>
            </a:solidFill>
            <a:prstDash val="solid"/>
          </a:ln>
        </p:spPr>
      </p:sp>
      <p:sp>
        <p:nvSpPr>
          <p:cNvPr id="7" name="Text 5"/>
          <p:cNvSpPr/>
          <p:nvPr/>
        </p:nvSpPr>
        <p:spPr>
          <a:xfrm>
            <a:off x="822960" y="4800600"/>
            <a:ext cx="10058400" cy="822960"/>
          </a:xfrm>
          <a:prstGeom prst="rect">
            <a:avLst/>
          </a:prstGeom>
          <a:noFill/>
          <a:ln/>
        </p:spPr>
        <p:txBody>
          <a:bodyPr wrap="square" lIns="0" tIns="0" rIns="0" bIns="0" rtlCol="0" anchor="t"/>
          <a:lstStyle/>
          <a:p>
            <a:pPr indent="0" marL="0">
              <a:buNone/>
            </a:pPr>
            <a:r>
              <a:rPr lang="en-US" sz="1300" dirty="0">
                <a:solidFill>
                  <a:srgbClr val="929194"/>
                </a:solidFill>
                <a:latin typeface="Arial" pitchFamily="34" charset="0"/>
                <a:ea typeface="Arial" pitchFamily="34" charset="-122"/>
                <a:cs typeface="Arial" pitchFamily="34" charset="-120"/>
              </a:rPr>
              <a:t>Prepared for the marketing leadership team</a:t>
            </a:r>
            <a:endParaRPr lang="en-US" sz="1300" dirty="0"/>
          </a:p>
          <a:p>
            <a:pPr indent="0" marL="0">
              <a:buNone/>
            </a:pPr>
            <a:r>
              <a:rPr lang="en-US" sz="1300" dirty="0">
                <a:solidFill>
                  <a:srgbClr val="929194"/>
                </a:solidFill>
                <a:latin typeface="Arial" pitchFamily="34" charset="0"/>
                <a:ea typeface="Arial" pitchFamily="34" charset="-122"/>
                <a:cs typeface="Arial" pitchFamily="34" charset="-120"/>
              </a:rPr>
              <a:t>Qasim Khursheed, Single Grain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WHERE WE ARE</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Organic traffic is down 40% in a year. A third of the keywords you ranked for are gone.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2</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your traffic and ranking figures, last 12 months</a:t>
            </a:r>
            <a:endParaRPr lang="en-US" sz="850" dirty="0"/>
          </a:p>
        </p:txBody>
      </p:sp>
      <p:graphicFrame>
        <p:nvGraphicFramePr>
          <p:cNvPr id="8" name="Chart 0" descr=""/>
          <p:cNvGraphicFramePr/>
          <p:nvPr/>
        </p:nvGraphicFramePr>
        <p:xfrm>
          <a:off x="548640" y="182880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766560" y="1920240"/>
            <a:ext cx="2377440" cy="1463040"/>
          </a:xfrm>
          <a:prstGeom prst="rect">
            <a:avLst/>
          </a:prstGeom>
          <a:solidFill>
            <a:srgbClr val="F8F8F8"/>
          </a:solidFill>
          <a:ln w="12700">
            <a:solidFill>
              <a:srgbClr val="E9EFF4"/>
            </a:solidFill>
            <a:prstDash val="solid"/>
          </a:ln>
        </p:spPr>
      </p:sp>
      <p:sp>
        <p:nvSpPr>
          <p:cNvPr id="10" name="Text 7"/>
          <p:cNvSpPr/>
          <p:nvPr/>
        </p:nvSpPr>
        <p:spPr>
          <a:xfrm>
            <a:off x="6949440" y="2029968"/>
            <a:ext cx="2011680" cy="73152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140K</a:t>
            </a:r>
            <a:endParaRPr lang="en-US" sz="3000" dirty="0"/>
          </a:p>
        </p:txBody>
      </p:sp>
      <p:sp>
        <p:nvSpPr>
          <p:cNvPr id="11" name="Text 8"/>
          <p:cNvSpPr/>
          <p:nvPr/>
        </p:nvSpPr>
        <p:spPr>
          <a:xfrm>
            <a:off x="6949440" y="2724912"/>
            <a:ext cx="2011680" cy="585216"/>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visits a month, 12 months ago</a:t>
            </a:r>
            <a:endParaRPr lang="en-US" sz="1150" dirty="0"/>
          </a:p>
        </p:txBody>
      </p:sp>
      <p:sp>
        <p:nvSpPr>
          <p:cNvPr id="12" name="Shape 9"/>
          <p:cNvSpPr/>
          <p:nvPr/>
        </p:nvSpPr>
        <p:spPr>
          <a:xfrm>
            <a:off x="9235440" y="1920240"/>
            <a:ext cx="2377440" cy="1463040"/>
          </a:xfrm>
          <a:prstGeom prst="rect">
            <a:avLst/>
          </a:prstGeom>
          <a:solidFill>
            <a:srgbClr val="2F343A"/>
          </a:solidFill>
          <a:ln w="12700">
            <a:solidFill>
              <a:srgbClr val="2F343A"/>
            </a:solidFill>
            <a:prstDash val="solid"/>
          </a:ln>
        </p:spPr>
      </p:sp>
      <p:sp>
        <p:nvSpPr>
          <p:cNvPr id="13" name="Text 10"/>
          <p:cNvSpPr/>
          <p:nvPr/>
        </p:nvSpPr>
        <p:spPr>
          <a:xfrm>
            <a:off x="9418320" y="2029968"/>
            <a:ext cx="201168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85K</a:t>
            </a:r>
            <a:endParaRPr lang="en-US" sz="3000" dirty="0"/>
          </a:p>
        </p:txBody>
      </p:sp>
      <p:sp>
        <p:nvSpPr>
          <p:cNvPr id="14" name="Text 11"/>
          <p:cNvSpPr/>
          <p:nvPr/>
        </p:nvSpPr>
        <p:spPr>
          <a:xfrm>
            <a:off x="9418320" y="2724912"/>
            <a:ext cx="2011680" cy="585216"/>
          </a:xfrm>
          <a:prstGeom prst="rect">
            <a:avLst/>
          </a:prstGeom>
          <a:noFill/>
          <a:ln/>
        </p:spPr>
        <p:txBody>
          <a:bodyPr wrap="square" lIns="0" tIns="0" rIns="0" bIns="0" rtlCol="0" anchor="t"/>
          <a:lstStyle/>
          <a:p>
            <a:pPr indent="0" marL="0">
              <a:buNone/>
            </a:pPr>
            <a:r>
              <a:rPr lang="en-US" sz="1150" dirty="0">
                <a:solidFill>
                  <a:srgbClr val="E9EFF4"/>
                </a:solidFill>
                <a:latin typeface="Arial" pitchFamily="34" charset="0"/>
                <a:ea typeface="Arial" pitchFamily="34" charset="-122"/>
                <a:cs typeface="Arial" pitchFamily="34" charset="-120"/>
              </a:rPr>
              <a:t>visits a month today</a:t>
            </a:r>
            <a:endParaRPr lang="en-US" sz="1150" dirty="0"/>
          </a:p>
        </p:txBody>
      </p:sp>
      <p:sp>
        <p:nvSpPr>
          <p:cNvPr id="15" name="Shape 12"/>
          <p:cNvSpPr/>
          <p:nvPr/>
        </p:nvSpPr>
        <p:spPr>
          <a:xfrm>
            <a:off x="6766560" y="3566160"/>
            <a:ext cx="2377440" cy="1463040"/>
          </a:xfrm>
          <a:prstGeom prst="rect">
            <a:avLst/>
          </a:prstGeom>
          <a:solidFill>
            <a:srgbClr val="F8F8F8"/>
          </a:solidFill>
          <a:ln w="12700">
            <a:solidFill>
              <a:srgbClr val="E9EFF4"/>
            </a:solidFill>
            <a:prstDash val="solid"/>
          </a:ln>
        </p:spPr>
      </p:sp>
      <p:sp>
        <p:nvSpPr>
          <p:cNvPr id="16" name="Text 13"/>
          <p:cNvSpPr/>
          <p:nvPr/>
        </p:nvSpPr>
        <p:spPr>
          <a:xfrm>
            <a:off x="6949440" y="3675888"/>
            <a:ext cx="2011680" cy="73152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18,000</a:t>
            </a:r>
            <a:endParaRPr lang="en-US" sz="3000" dirty="0"/>
          </a:p>
        </p:txBody>
      </p:sp>
      <p:sp>
        <p:nvSpPr>
          <p:cNvPr id="17" name="Text 14"/>
          <p:cNvSpPr/>
          <p:nvPr/>
        </p:nvSpPr>
        <p:spPr>
          <a:xfrm>
            <a:off x="6949440" y="4370832"/>
            <a:ext cx="2011680" cy="585216"/>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keywords ranking, 12 months ago</a:t>
            </a:r>
            <a:endParaRPr lang="en-US" sz="1150" dirty="0"/>
          </a:p>
        </p:txBody>
      </p:sp>
      <p:sp>
        <p:nvSpPr>
          <p:cNvPr id="18" name="Shape 15"/>
          <p:cNvSpPr/>
          <p:nvPr/>
        </p:nvSpPr>
        <p:spPr>
          <a:xfrm>
            <a:off x="9235440" y="3566160"/>
            <a:ext cx="2377440" cy="1463040"/>
          </a:xfrm>
          <a:prstGeom prst="rect">
            <a:avLst/>
          </a:prstGeom>
          <a:solidFill>
            <a:srgbClr val="2F343A"/>
          </a:solidFill>
          <a:ln w="12700">
            <a:solidFill>
              <a:srgbClr val="2F343A"/>
            </a:solidFill>
            <a:prstDash val="solid"/>
          </a:ln>
        </p:spPr>
      </p:sp>
      <p:sp>
        <p:nvSpPr>
          <p:cNvPr id="19" name="Text 16"/>
          <p:cNvSpPr/>
          <p:nvPr/>
        </p:nvSpPr>
        <p:spPr>
          <a:xfrm>
            <a:off x="9418320" y="3675888"/>
            <a:ext cx="201168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12,000</a:t>
            </a:r>
            <a:endParaRPr lang="en-US" sz="3000" dirty="0"/>
          </a:p>
        </p:txBody>
      </p:sp>
      <p:sp>
        <p:nvSpPr>
          <p:cNvPr id="20" name="Text 17"/>
          <p:cNvSpPr/>
          <p:nvPr/>
        </p:nvSpPr>
        <p:spPr>
          <a:xfrm>
            <a:off x="9418320" y="4370832"/>
            <a:ext cx="2011680" cy="585216"/>
          </a:xfrm>
          <a:prstGeom prst="rect">
            <a:avLst/>
          </a:prstGeom>
          <a:noFill/>
          <a:ln/>
        </p:spPr>
        <p:txBody>
          <a:bodyPr wrap="square" lIns="0" tIns="0" rIns="0" bIns="0" rtlCol="0" anchor="t"/>
          <a:lstStyle/>
          <a:p>
            <a:pPr indent="0" marL="0">
              <a:buNone/>
            </a:pPr>
            <a:r>
              <a:rPr lang="en-US" sz="1150" dirty="0">
                <a:solidFill>
                  <a:srgbClr val="E9EFF4"/>
                </a:solidFill>
                <a:latin typeface="Arial" pitchFamily="34" charset="0"/>
                <a:ea typeface="Arial" pitchFamily="34" charset="-122"/>
                <a:cs typeface="Arial" pitchFamily="34" charset="-120"/>
              </a:rPr>
              <a:t>keywords ranking today</a:t>
            </a:r>
            <a:endParaRPr lang="en-US" sz="1150" dirty="0"/>
          </a:p>
        </p:txBody>
      </p:sp>
      <p:sp>
        <p:nvSpPr>
          <p:cNvPr id="21" name="Shape 18"/>
          <p:cNvSpPr/>
          <p:nvPr/>
        </p:nvSpPr>
        <p:spPr>
          <a:xfrm>
            <a:off x="548640" y="5623560"/>
            <a:ext cx="11064240" cy="566928"/>
          </a:xfrm>
          <a:prstGeom prst="rect">
            <a:avLst/>
          </a:prstGeom>
          <a:solidFill>
            <a:srgbClr val="E9EFF4"/>
          </a:solidFill>
          <a:ln w="12700">
            <a:solidFill>
              <a:srgbClr val="E9EFF4"/>
            </a:solidFill>
            <a:prstDash val="solid"/>
          </a:ln>
        </p:spPr>
      </p:sp>
      <p:sp>
        <p:nvSpPr>
          <p:cNvPr id="22" name="Shape 19"/>
          <p:cNvSpPr/>
          <p:nvPr/>
        </p:nvSpPr>
        <p:spPr>
          <a:xfrm>
            <a:off x="548640" y="5623560"/>
            <a:ext cx="82296" cy="566928"/>
          </a:xfrm>
          <a:prstGeom prst="rect">
            <a:avLst/>
          </a:prstGeom>
          <a:solidFill>
            <a:srgbClr val="F27038"/>
          </a:solidFill>
          <a:ln w="12700">
            <a:solidFill>
              <a:srgbClr val="F27038"/>
            </a:solidFill>
            <a:prstDash val="solid"/>
          </a:ln>
        </p:spPr>
      </p:sp>
      <p:sp>
        <p:nvSpPr>
          <p:cNvPr id="23" name="Text 20"/>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The number everyone is looking at is visits. The rest of this deck shows why visits are the wrong number to chase, and what to chase instead.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WHAT HAPPENED</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Almost all of the lost traffic came from two kinds of pages: old pages competitors overtook, and dated pages that expired.</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3</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audit of your 18 biggest pages (42% of today's traffic). Shares are of the visits those pages lost.</a:t>
            </a:r>
            <a:endParaRPr lang="en-US" sz="850" dirty="0"/>
          </a:p>
        </p:txBody>
      </p:sp>
      <p:graphicFrame>
        <p:nvGraphicFramePr>
          <p:cNvPr id="8" name="Chart 0" descr=""/>
          <p:cNvGraphicFramePr/>
          <p:nvPr/>
        </p:nvGraphicFramePr>
        <p:xfrm>
          <a:off x="548640" y="1828800"/>
          <a:ext cx="7498080" cy="3657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8321040" y="1920240"/>
            <a:ext cx="3291840" cy="3566160"/>
          </a:xfrm>
          <a:prstGeom prst="rect">
            <a:avLst/>
          </a:prstGeom>
          <a:noFill/>
          <a:ln/>
        </p:spPr>
        <p:txBody>
          <a:bodyPr wrap="square" lIns="0" tIns="0" rIns="0" bIns="0" rtlCol="0" anchor="t"/>
          <a:lstStyle/>
          <a:p>
            <a:pPr indent="0" marL="0">
              <a:buNone/>
            </a:pPr>
            <a:r>
              <a:rPr lang="en-US" sz="1400" b="1" dirty="0">
                <a:solidFill>
                  <a:srgbClr val="2F343A"/>
                </a:solidFill>
                <a:latin typeface="Arial" pitchFamily="34" charset="0"/>
                <a:ea typeface="Arial" pitchFamily="34" charset="-122"/>
                <a:cs typeface="Arial" pitchFamily="34" charset="-120"/>
              </a:rPr>
              <a:t>Two different problems</a:t>
            </a:r>
            <a:endParaRPr lang="en-US" sz="1150" dirty="0"/>
          </a:p>
          <a:p>
            <a:pPr indent="0" marL="0">
              <a:buNone/>
            </a:pPr>
            <a:r>
              <a:rPr lang="en-US" sz="600" dirty="0">
                <a:solidFill>
                  <a:srgbClr val="2C2F33"/>
                </a:solidFill>
                <a:latin typeface="Arial" pitchFamily="34" charset="0"/>
                <a:ea typeface="Arial" pitchFamily="34" charset="-122"/>
                <a:cs typeface="Arial" pitchFamily="34" charset="-120"/>
              </a:rPr>
              <a:t> </a:t>
            </a:r>
            <a:endParaRPr lang="en-US" sz="1150" dirty="0"/>
          </a:p>
          <a:p>
            <a:pPr indent="0" marL="0">
              <a:buNone/>
            </a:pPr>
            <a:r>
              <a:rPr lang="en-US" sz="1150" dirty="0">
                <a:solidFill>
                  <a:srgbClr val="2C2F33"/>
                </a:solidFill>
                <a:latin typeface="Arial" pitchFamily="34" charset="0"/>
                <a:ea typeface="Arial" pitchFamily="34" charset="-122"/>
                <a:cs typeface="Arial" pitchFamily="34" charset="-120"/>
              </a:rPr>
              <a:t>The big guides slipped 2 to 5 places. That is competition: the pages above you were rewritten in 2025 and 2026, yours were not.</a:t>
            </a:r>
            <a:endParaRPr lang="en-US" sz="1150" dirty="0"/>
          </a:p>
          <a:p>
            <a:pPr indent="0" marL="0">
              <a:buNone/>
            </a:pPr>
            <a:r>
              <a:rPr lang="en-US" sz="600" dirty="0">
                <a:solidFill>
                  <a:srgbClr val="2C2F33"/>
                </a:solidFill>
                <a:latin typeface="Arial" pitchFamily="34" charset="0"/>
                <a:ea typeface="Arial" pitchFamily="34" charset="-122"/>
                <a:cs typeface="Arial" pitchFamily="34" charset="-120"/>
              </a:rPr>
              <a:t> </a:t>
            </a:r>
            <a:endParaRPr lang="en-US" sz="1150" dirty="0"/>
          </a:p>
          <a:p>
            <a:pPr indent="0" marL="0">
              <a:buNone/>
            </a:pPr>
            <a:r>
              <a:rPr lang="en-US" sz="1150" dirty="0">
                <a:solidFill>
                  <a:srgbClr val="2C2F33"/>
                </a:solidFill>
                <a:latin typeface="Arial" pitchFamily="34" charset="0"/>
                <a:ea typeface="Arial" pitchFamily="34" charset="-122"/>
                <a:cs typeface="Arial" pitchFamily="34" charset="-120"/>
              </a:rPr>
              <a:t>Four pages fell 17 to 38 places. Two of them have a year in their web address, so they expired. Two are off-topic. No amount of promotion brings those back; they need to be redirected or retired.</a:t>
            </a:r>
            <a:endParaRPr lang="en-US" sz="1150" dirty="0"/>
          </a:p>
        </p:txBody>
      </p:sp>
      <p:sp>
        <p:nvSpPr>
          <p:cNvPr id="10" name="Shape 7"/>
          <p:cNvSpPr/>
          <p:nvPr/>
        </p:nvSpPr>
        <p:spPr>
          <a:xfrm>
            <a:off x="548640" y="5623560"/>
            <a:ext cx="11064240" cy="566928"/>
          </a:xfrm>
          <a:prstGeom prst="rect">
            <a:avLst/>
          </a:prstGeom>
          <a:solidFill>
            <a:srgbClr val="E9EFF4"/>
          </a:solidFill>
          <a:ln w="12700">
            <a:solidFill>
              <a:srgbClr val="E9EFF4"/>
            </a:solidFill>
            <a:prstDash val="solid"/>
          </a:ln>
        </p:spPr>
      </p:sp>
      <p:sp>
        <p:nvSpPr>
          <p:cNvPr id="11" name="Shape 8"/>
          <p:cNvSpPr/>
          <p:nvPr/>
        </p:nvSpPr>
        <p:spPr>
          <a:xfrm>
            <a:off x="548640" y="5623560"/>
            <a:ext cx="82296" cy="566928"/>
          </a:xfrm>
          <a:prstGeom prst="rect">
            <a:avLst/>
          </a:prstGeom>
          <a:solidFill>
            <a:srgbClr val="F27038"/>
          </a:solidFill>
          <a:ln w="12700">
            <a:solidFill>
              <a:srgbClr val="F27038"/>
            </a:solidFill>
            <a:prstDash val="solid"/>
          </a:ln>
        </p:spPr>
      </p:sp>
      <p:sp>
        <p:nvSpPr>
          <p:cNvPr id="12" name="Text 9"/>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Fixing this is mostly updating and tidying what you already own. It is not a rebuild and it is not a promotion problem.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WHY IT HAPPENED</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The older the page, the further it fell. Pages updated in the last two years held or grew.</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4</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last-updated dates and ranking change for your 18 biggest pages. Average is the median.</a:t>
            </a:r>
            <a:endParaRPr lang="en-US" sz="850" dirty="0"/>
          </a:p>
        </p:txBody>
      </p:sp>
      <p:graphicFrame>
        <p:nvGraphicFramePr>
          <p:cNvPr id="8" name="Chart 0" descr=""/>
          <p:cNvGraphicFramePr/>
          <p:nvPr/>
        </p:nvGraphicFramePr>
        <p:xfrm>
          <a:off x="548640" y="182880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400800" y="1920240"/>
            <a:ext cx="5212080" cy="3566160"/>
          </a:xfrm>
          <a:prstGeom prst="rect">
            <a:avLst/>
          </a:prstGeom>
          <a:noFill/>
          <a:ln/>
        </p:spPr>
        <p:txBody>
          <a:bodyPr wrap="square" lIns="0" tIns="0" rIns="0" bIns="0" rtlCol="0" anchor="t"/>
          <a:lstStyle/>
          <a:p>
            <a:pPr indent="0" marL="0">
              <a:spcAft>
                <a:spcPts val="400"/>
              </a:spcAft>
              <a:buNone/>
            </a:pPr>
            <a:r>
              <a:rPr lang="en-US" sz="1400" b="1" dirty="0">
                <a:solidFill>
                  <a:srgbClr val="2F343A"/>
                </a:solidFill>
                <a:latin typeface="Arial" pitchFamily="34" charset="0"/>
                <a:ea typeface="Arial" pitchFamily="34" charset="-122"/>
                <a:cs typeface="Arial" pitchFamily="34" charset="-120"/>
              </a:rPr>
              <a:t>What we saw</a:t>
            </a:r>
            <a:endParaRPr lang="en-US" sz="1200" dirty="0"/>
          </a:p>
          <a:p>
            <a:pPr indent="0" marL="0">
              <a:spcAft>
                <a:spcPts val="400"/>
              </a:spcAft>
              <a:buNone/>
            </a:pPr>
            <a:r>
              <a:rPr lang="en-US" sz="600" dirty="0">
                <a:solidFill>
                  <a:srgbClr val="2C2F33"/>
                </a:solidFill>
                <a:latin typeface="Arial" pitchFamily="34" charset="0"/>
                <a:ea typeface="Arial" pitchFamily="34" charset="-122"/>
                <a:cs typeface="Arial" pitchFamily="34" charset="-120"/>
              </a:rPr>
              <a:t> </a:t>
            </a:r>
            <a:endParaRPr lang="en-US" sz="1200" dirty="0"/>
          </a:p>
          <a:p>
            <a:pPr marL="342900" indent="-342900">
              <a:spcAft>
                <a:spcPts val="400"/>
              </a:spcAft>
              <a:buSzPct val="100000"/>
              <a:buChar char="•"/>
            </a:pPr>
            <a:r>
              <a:rPr lang="en-US" sz="1200" dirty="0">
                <a:solidFill>
                  <a:srgbClr val="2C2F33"/>
                </a:solidFill>
                <a:latin typeface="Arial" pitchFamily="34" charset="0"/>
                <a:ea typeface="Arial" pitchFamily="34" charset="-122"/>
                <a:cs typeface="Arial" pitchFamily="34" charset="-120"/>
              </a:rPr>
              <a:t>None of your top pages has been touched since January 2025.</a:t>
            </a:r>
            <a:endParaRPr lang="en-US" sz="1200" dirty="0"/>
          </a:p>
          <a:p>
            <a:pPr marL="342900" indent="-342900">
              <a:spcAft>
                <a:spcPts val="400"/>
              </a:spcAft>
              <a:buSzPct val="100000"/>
              <a:buChar char="•"/>
            </a:pPr>
            <a:r>
              <a:rPr lang="en-US" sz="1200" dirty="0">
                <a:solidFill>
                  <a:srgbClr val="2C2F33"/>
                </a:solidFill>
                <a:latin typeface="Arial" pitchFamily="34" charset="0"/>
                <a:ea typeface="Arial" pitchFamily="34" charset="-122"/>
                <a:cs typeface="Arial" pitchFamily="34" charset="-120"/>
              </a:rPr>
              <a:t>The two pages that improved are the two most recently updated.</a:t>
            </a:r>
            <a:endParaRPr lang="en-US" sz="1200" dirty="0"/>
          </a:p>
          <a:p>
            <a:pPr marL="342900" indent="-342900">
              <a:spcAft>
                <a:spcPts val="400"/>
              </a:spcAft>
              <a:buSzPct val="100000"/>
              <a:buChar char="•"/>
            </a:pPr>
            <a:r>
              <a:rPr lang="en-US" sz="1200" dirty="0">
                <a:solidFill>
                  <a:srgbClr val="2C2F33"/>
                </a:solidFill>
                <a:latin typeface="Arial" pitchFamily="34" charset="0"/>
                <a:ea typeface="Arial" pitchFamily="34" charset="-122"/>
                <a:cs typeface="Arial" pitchFamily="34" charset="-120"/>
              </a:rPr>
              <a:t>For "what is expense management", every page now above you was updated between July 2025 and July 2026. Yours was last updated January 2024.</a:t>
            </a:r>
            <a:endParaRPr lang="en-US" sz="1200" dirty="0"/>
          </a:p>
          <a:p>
            <a:pPr marL="342900" indent="-342900">
              <a:spcAft>
                <a:spcPts val="400"/>
              </a:spcAft>
              <a:buSzPct val="100000"/>
              <a:buChar char="•"/>
            </a:pPr>
            <a:r>
              <a:rPr lang="en-US" sz="1200" dirty="0">
                <a:solidFill>
                  <a:srgbClr val="2C2F33"/>
                </a:solidFill>
                <a:latin typeface="Arial" pitchFamily="34" charset="0"/>
                <a:ea typeface="Arial" pitchFamily="34" charset="-122"/>
                <a:cs typeface="Arial" pitchFamily="34" charset="-120"/>
              </a:rPr>
              <a:t>For "business expense categories", the pages above you were updated in 2026. Yours still cites outdated IRS categories.</a:t>
            </a:r>
            <a:endParaRPr lang="en-US" sz="1200" dirty="0"/>
          </a:p>
        </p:txBody>
      </p:sp>
      <p:sp>
        <p:nvSpPr>
          <p:cNvPr id="10" name="Shape 7"/>
          <p:cNvSpPr/>
          <p:nvPr/>
        </p:nvSpPr>
        <p:spPr>
          <a:xfrm>
            <a:off x="548640" y="5623560"/>
            <a:ext cx="11064240" cy="566928"/>
          </a:xfrm>
          <a:prstGeom prst="rect">
            <a:avLst/>
          </a:prstGeom>
          <a:solidFill>
            <a:srgbClr val="E9EFF4"/>
          </a:solidFill>
          <a:ln w="12700">
            <a:solidFill>
              <a:srgbClr val="E9EFF4"/>
            </a:solidFill>
            <a:prstDash val="solid"/>
          </a:ln>
        </p:spPr>
      </p:sp>
      <p:sp>
        <p:nvSpPr>
          <p:cNvPr id="11" name="Shape 8"/>
          <p:cNvSpPr/>
          <p:nvPr/>
        </p:nvSpPr>
        <p:spPr>
          <a:xfrm>
            <a:off x="548640" y="5623560"/>
            <a:ext cx="82296" cy="566928"/>
          </a:xfrm>
          <a:prstGeom prst="rect">
            <a:avLst/>
          </a:prstGeom>
          <a:solidFill>
            <a:srgbClr val="F27038"/>
          </a:solidFill>
          <a:ln w="12700">
            <a:solidFill>
              <a:srgbClr val="F27038"/>
            </a:solidFill>
            <a:prstDash val="solid"/>
          </a:ln>
        </p:spPr>
      </p:sp>
      <p:sp>
        <p:nvSpPr>
          <p:cNvPr id="12" name="Text 9"/>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Google rewards the freshest, most complete answer. Your competitors have been rewriting; your pages have been standing still for 18 months.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WHY IT HAPPENED</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Google now answers the question before anyone clicks. Getting back to #1 will not bring back all the clicks.</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5</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live Google results, 12 October 2026. Click-rate benchmark: Ahrefs, February 2026, 300,000 searches.</a:t>
            </a:r>
            <a:endParaRPr lang="en-US" sz="850" dirty="0"/>
          </a:p>
        </p:txBody>
      </p:sp>
      <p:sp>
        <p:nvSpPr>
          <p:cNvPr id="8" name="Shape 6"/>
          <p:cNvSpPr/>
          <p:nvPr/>
        </p:nvSpPr>
        <p:spPr>
          <a:xfrm>
            <a:off x="548640" y="1828800"/>
            <a:ext cx="5852160" cy="3657600"/>
          </a:xfrm>
          <a:prstGeom prst="rect">
            <a:avLst/>
          </a:prstGeom>
          <a:solidFill>
            <a:srgbClr val="F8F8F8"/>
          </a:solidFill>
          <a:ln w="12700">
            <a:solidFill>
              <a:srgbClr val="E9EFF4"/>
            </a:solidFill>
            <a:prstDash val="solid"/>
          </a:ln>
        </p:spPr>
      </p:sp>
      <p:sp>
        <p:nvSpPr>
          <p:cNvPr id="9" name="Text 7"/>
          <p:cNvSpPr/>
          <p:nvPr/>
        </p:nvSpPr>
        <p:spPr>
          <a:xfrm>
            <a:off x="777240" y="1938528"/>
            <a:ext cx="5394960" cy="320040"/>
          </a:xfrm>
          <a:prstGeom prst="rect">
            <a:avLst/>
          </a:prstGeom>
          <a:noFill/>
          <a:ln/>
        </p:spPr>
        <p:txBody>
          <a:bodyPr wrap="square" lIns="0" tIns="0" rIns="0" bIns="0" rtlCol="0" anchor="ctr"/>
          <a:lstStyle/>
          <a:p>
            <a:pPr indent="0" marL="0">
              <a:buNone/>
            </a:pPr>
            <a:r>
              <a:rPr lang="en-US" sz="1100" dirty="0">
                <a:solidFill>
                  <a:srgbClr val="6C757D"/>
                </a:solidFill>
                <a:latin typeface="Arial" pitchFamily="34" charset="0"/>
                <a:ea typeface="Arial" pitchFamily="34" charset="-122"/>
                <a:cs typeface="Arial" pitchFamily="34" charset="-120"/>
              </a:rPr>
              <a:t>Google   "what is expense management"</a:t>
            </a:r>
            <a:endParaRPr lang="en-US" sz="1100" dirty="0"/>
          </a:p>
        </p:txBody>
      </p:sp>
      <p:sp>
        <p:nvSpPr>
          <p:cNvPr id="10" name="Shape 8"/>
          <p:cNvSpPr/>
          <p:nvPr/>
        </p:nvSpPr>
        <p:spPr>
          <a:xfrm>
            <a:off x="777240" y="2331720"/>
            <a:ext cx="5394960" cy="960120"/>
          </a:xfrm>
          <a:prstGeom prst="rect">
            <a:avLst/>
          </a:prstGeom>
          <a:solidFill>
            <a:srgbClr val="FFEAE1"/>
          </a:solidFill>
          <a:ln w="19050">
            <a:solidFill>
              <a:srgbClr val="F27038"/>
            </a:solidFill>
            <a:prstDash val="solid"/>
          </a:ln>
        </p:spPr>
      </p:sp>
      <p:sp>
        <p:nvSpPr>
          <p:cNvPr id="11" name="Text 9"/>
          <p:cNvSpPr/>
          <p:nvPr/>
        </p:nvSpPr>
        <p:spPr>
          <a:xfrm>
            <a:off x="914400" y="2395728"/>
            <a:ext cx="5120640" cy="841248"/>
          </a:xfrm>
          <a:prstGeom prst="rect">
            <a:avLst/>
          </a:prstGeom>
          <a:noFill/>
          <a:ln/>
        </p:spPr>
        <p:txBody>
          <a:bodyPr wrap="square" lIns="0" tIns="0" rIns="0" bIns="0" rtlCol="0" anchor="t"/>
          <a:lstStyle/>
          <a:p>
            <a:pPr indent="0" marL="0">
              <a:buNone/>
            </a:pPr>
            <a:r>
              <a:rPr lang="en-US" sz="1050" b="1" dirty="0">
                <a:solidFill>
                  <a:srgbClr val="F27038"/>
                </a:solidFill>
                <a:latin typeface="Arial" pitchFamily="34" charset="0"/>
                <a:ea typeface="Arial" pitchFamily="34" charset="-122"/>
                <a:cs typeface="Arial" pitchFamily="34" charset="-120"/>
              </a:rPr>
              <a:t>AI Overview</a:t>
            </a:r>
            <a:endParaRPr lang="en-US" sz="1050" dirty="0"/>
          </a:p>
          <a:p>
            <a:pPr indent="0" marL="0">
              <a:buNone/>
            </a:pPr>
            <a:r>
              <a:rPr lang="en-US" sz="1050" dirty="0">
                <a:solidFill>
                  <a:srgbClr val="2C2F33"/>
                </a:solidFill>
                <a:latin typeface="Arial" pitchFamily="34" charset="0"/>
                <a:ea typeface="Arial" pitchFamily="34" charset="-122"/>
                <a:cs typeface="Arial" pitchFamily="34" charset="-120"/>
              </a:rPr>
              <a:t>Expense management is the process a business uses to track, control, approve and reimburse employee spending...</a:t>
            </a:r>
            <a:endParaRPr lang="en-US" sz="1050" dirty="0"/>
          </a:p>
        </p:txBody>
      </p:sp>
      <p:sp>
        <p:nvSpPr>
          <p:cNvPr id="12" name="Shape 10"/>
          <p:cNvSpPr/>
          <p:nvPr/>
        </p:nvSpPr>
        <p:spPr>
          <a:xfrm>
            <a:off x="777240" y="3429000"/>
            <a:ext cx="5394960" cy="347472"/>
          </a:xfrm>
          <a:prstGeom prst="rect">
            <a:avLst/>
          </a:prstGeom>
          <a:solidFill>
            <a:srgbClr val="FFFFFF"/>
          </a:solidFill>
          <a:ln w="9525">
            <a:solidFill>
              <a:srgbClr val="E9EFF4"/>
            </a:solidFill>
            <a:prstDash val="solid"/>
          </a:ln>
        </p:spPr>
      </p:sp>
      <p:sp>
        <p:nvSpPr>
          <p:cNvPr id="13" name="Text 11"/>
          <p:cNvSpPr/>
          <p:nvPr/>
        </p:nvSpPr>
        <p:spPr>
          <a:xfrm>
            <a:off x="914400" y="3429000"/>
            <a:ext cx="5120640" cy="347472"/>
          </a:xfrm>
          <a:prstGeom prst="rect">
            <a:avLst/>
          </a:prstGeom>
          <a:noFill/>
          <a:ln/>
        </p:spPr>
        <p:txBody>
          <a:bodyPr wrap="square" lIns="0" tIns="0" rIns="0" bIns="0" rtlCol="0" anchor="ctr"/>
          <a:lstStyle/>
          <a:p>
            <a:pPr indent="0" marL="0">
              <a:buNone/>
            </a:pPr>
            <a:r>
              <a:rPr lang="en-US" sz="1100" dirty="0">
                <a:solidFill>
                  <a:srgbClr val="929194"/>
                </a:solidFill>
                <a:latin typeface="Arial" pitchFamily="34" charset="0"/>
                <a:ea typeface="Arial" pitchFamily="34" charset="-122"/>
                <a:cs typeface="Arial" pitchFamily="34" charset="-120"/>
              </a:rPr>
              <a:t>1   </a:t>
            </a:r>
            <a:pPr indent="0" marL="0">
              <a:buNone/>
            </a:pPr>
            <a:r>
              <a:rPr lang="en-US" sz="1100" b="1" dirty="0">
                <a:solidFill>
                  <a:srgbClr val="2C2F33"/>
                </a:solidFill>
                <a:latin typeface="Arial" pitchFamily="34" charset="0"/>
                <a:ea typeface="Arial" pitchFamily="34" charset="-122"/>
                <a:cs typeface="Arial" pitchFamily="34" charset="-120"/>
              </a:rPr>
              <a:t>NetSuite</a:t>
            </a:r>
            <a:pPr indent="0" marL="0">
              <a:buNone/>
            </a:pPr>
            <a:r>
              <a:rPr lang="en-US" sz="1100" dirty="0">
                <a:solidFill>
                  <a:srgbClr val="929194"/>
                </a:solidFill>
                <a:latin typeface="Arial" pitchFamily="34" charset="0"/>
                <a:ea typeface="Arial" pitchFamily="34" charset="-122"/>
                <a:cs typeface="Arial" pitchFamily="34" charset="-120"/>
              </a:rPr>
              <a:t>     updated Jul 2025</a:t>
            </a:r>
            <a:endParaRPr lang="en-US" sz="1100" dirty="0"/>
          </a:p>
        </p:txBody>
      </p:sp>
      <p:sp>
        <p:nvSpPr>
          <p:cNvPr id="14" name="Shape 12"/>
          <p:cNvSpPr/>
          <p:nvPr/>
        </p:nvSpPr>
        <p:spPr>
          <a:xfrm>
            <a:off x="777240" y="3831336"/>
            <a:ext cx="5394960" cy="347472"/>
          </a:xfrm>
          <a:prstGeom prst="rect">
            <a:avLst/>
          </a:prstGeom>
          <a:solidFill>
            <a:srgbClr val="FFFFFF"/>
          </a:solidFill>
          <a:ln w="9525">
            <a:solidFill>
              <a:srgbClr val="E9EFF4"/>
            </a:solidFill>
            <a:prstDash val="solid"/>
          </a:ln>
        </p:spPr>
      </p:sp>
      <p:sp>
        <p:nvSpPr>
          <p:cNvPr id="15" name="Text 13"/>
          <p:cNvSpPr/>
          <p:nvPr/>
        </p:nvSpPr>
        <p:spPr>
          <a:xfrm>
            <a:off x="914400" y="3831336"/>
            <a:ext cx="5120640" cy="347472"/>
          </a:xfrm>
          <a:prstGeom prst="rect">
            <a:avLst/>
          </a:prstGeom>
          <a:noFill/>
          <a:ln/>
        </p:spPr>
        <p:txBody>
          <a:bodyPr wrap="square" lIns="0" tIns="0" rIns="0" bIns="0" rtlCol="0" anchor="ctr"/>
          <a:lstStyle/>
          <a:p>
            <a:pPr indent="0" marL="0">
              <a:buNone/>
            </a:pPr>
            <a:r>
              <a:rPr lang="en-US" sz="1100" dirty="0">
                <a:solidFill>
                  <a:srgbClr val="929194"/>
                </a:solidFill>
                <a:latin typeface="Arial" pitchFamily="34" charset="0"/>
                <a:ea typeface="Arial" pitchFamily="34" charset="-122"/>
                <a:cs typeface="Arial" pitchFamily="34" charset="-120"/>
              </a:rPr>
              <a:t>2   </a:t>
            </a:r>
            <a:pPr indent="0" marL="0">
              <a:buNone/>
            </a:pPr>
            <a:r>
              <a:rPr lang="en-US" sz="1100" b="1" dirty="0">
                <a:solidFill>
                  <a:srgbClr val="2C2F33"/>
                </a:solidFill>
                <a:latin typeface="Arial" pitchFamily="34" charset="0"/>
                <a:ea typeface="Arial" pitchFamily="34" charset="-122"/>
                <a:cs typeface="Arial" pitchFamily="34" charset="-120"/>
              </a:rPr>
              <a:t>Medius</a:t>
            </a:r>
            <a:pPr indent="0" marL="0">
              <a:buNone/>
            </a:pPr>
            <a:endParaRPr lang="en-US" sz="1100" dirty="0"/>
          </a:p>
        </p:txBody>
      </p:sp>
      <p:sp>
        <p:nvSpPr>
          <p:cNvPr id="16" name="Shape 14"/>
          <p:cNvSpPr/>
          <p:nvPr/>
        </p:nvSpPr>
        <p:spPr>
          <a:xfrm>
            <a:off x="777240" y="4233672"/>
            <a:ext cx="5394960" cy="347472"/>
          </a:xfrm>
          <a:prstGeom prst="rect">
            <a:avLst/>
          </a:prstGeom>
          <a:solidFill>
            <a:srgbClr val="FFFFFF"/>
          </a:solidFill>
          <a:ln w="9525">
            <a:solidFill>
              <a:srgbClr val="E9EFF4"/>
            </a:solidFill>
            <a:prstDash val="solid"/>
          </a:ln>
        </p:spPr>
      </p:sp>
      <p:sp>
        <p:nvSpPr>
          <p:cNvPr id="17" name="Text 15"/>
          <p:cNvSpPr/>
          <p:nvPr/>
        </p:nvSpPr>
        <p:spPr>
          <a:xfrm>
            <a:off x="914400" y="4233672"/>
            <a:ext cx="5120640" cy="347472"/>
          </a:xfrm>
          <a:prstGeom prst="rect">
            <a:avLst/>
          </a:prstGeom>
          <a:noFill/>
          <a:ln/>
        </p:spPr>
        <p:txBody>
          <a:bodyPr wrap="square" lIns="0" tIns="0" rIns="0" bIns="0" rtlCol="0" anchor="ctr"/>
          <a:lstStyle/>
          <a:p>
            <a:pPr indent="0" marL="0">
              <a:buNone/>
            </a:pPr>
            <a:r>
              <a:rPr lang="en-US" sz="1100" dirty="0">
                <a:solidFill>
                  <a:srgbClr val="929194"/>
                </a:solidFill>
                <a:latin typeface="Arial" pitchFamily="34" charset="0"/>
                <a:ea typeface="Arial" pitchFamily="34" charset="-122"/>
                <a:cs typeface="Arial" pitchFamily="34" charset="-120"/>
              </a:rPr>
              <a:t>3   </a:t>
            </a:r>
            <a:pPr indent="0" marL="0">
              <a:buNone/>
            </a:pPr>
            <a:r>
              <a:rPr lang="en-US" sz="1100" b="1" dirty="0">
                <a:solidFill>
                  <a:srgbClr val="2C2F33"/>
                </a:solidFill>
                <a:latin typeface="Arial" pitchFamily="34" charset="0"/>
                <a:ea typeface="Arial" pitchFamily="34" charset="-122"/>
                <a:cs typeface="Arial" pitchFamily="34" charset="-120"/>
              </a:rPr>
              <a:t>Ramp</a:t>
            </a:r>
            <a:pPr indent="0" marL="0">
              <a:buNone/>
            </a:pPr>
            <a:r>
              <a:rPr lang="en-US" sz="1100" dirty="0">
                <a:solidFill>
                  <a:srgbClr val="929194"/>
                </a:solidFill>
                <a:latin typeface="Arial" pitchFamily="34" charset="0"/>
                <a:ea typeface="Arial" pitchFamily="34" charset="-122"/>
                <a:cs typeface="Arial" pitchFamily="34" charset="-120"/>
              </a:rPr>
              <a:t>     updated Jul 2026</a:t>
            </a:r>
            <a:endParaRPr lang="en-US" sz="1100" dirty="0"/>
          </a:p>
        </p:txBody>
      </p:sp>
      <p:sp>
        <p:nvSpPr>
          <p:cNvPr id="18" name="Shape 16"/>
          <p:cNvSpPr/>
          <p:nvPr/>
        </p:nvSpPr>
        <p:spPr>
          <a:xfrm>
            <a:off x="777240" y="4636008"/>
            <a:ext cx="5394960" cy="347472"/>
          </a:xfrm>
          <a:prstGeom prst="rect">
            <a:avLst/>
          </a:prstGeom>
          <a:solidFill>
            <a:srgbClr val="E9EFF4"/>
          </a:solidFill>
          <a:ln w="15875">
            <a:solidFill>
              <a:srgbClr val="2F343A"/>
            </a:solidFill>
            <a:prstDash val="solid"/>
          </a:ln>
        </p:spPr>
      </p:sp>
      <p:sp>
        <p:nvSpPr>
          <p:cNvPr id="19" name="Text 17"/>
          <p:cNvSpPr/>
          <p:nvPr/>
        </p:nvSpPr>
        <p:spPr>
          <a:xfrm>
            <a:off x="914400" y="4636008"/>
            <a:ext cx="5120640" cy="347472"/>
          </a:xfrm>
          <a:prstGeom prst="rect">
            <a:avLst/>
          </a:prstGeom>
          <a:noFill/>
          <a:ln/>
        </p:spPr>
        <p:txBody>
          <a:bodyPr wrap="square" lIns="0" tIns="0" rIns="0" bIns="0" rtlCol="0" anchor="ctr"/>
          <a:lstStyle/>
          <a:p>
            <a:pPr indent="0" marL="0">
              <a:buNone/>
            </a:pPr>
            <a:r>
              <a:rPr lang="en-US" sz="1100" dirty="0">
                <a:solidFill>
                  <a:srgbClr val="929194"/>
                </a:solidFill>
                <a:latin typeface="Arial" pitchFamily="34" charset="0"/>
                <a:ea typeface="Arial" pitchFamily="34" charset="-122"/>
                <a:cs typeface="Arial" pitchFamily="34" charset="-120"/>
              </a:rPr>
              <a:t>4   </a:t>
            </a:r>
            <a:pPr indent="0" marL="0">
              <a:buNone/>
            </a:pPr>
            <a:r>
              <a:rPr lang="en-US" sz="1100" b="1" dirty="0">
                <a:solidFill>
                  <a:srgbClr val="2F343A"/>
                </a:solidFill>
                <a:latin typeface="Arial" pitchFamily="34" charset="0"/>
                <a:ea typeface="Arial" pitchFamily="34" charset="-122"/>
                <a:cs typeface="Arial" pitchFamily="34" charset="-120"/>
              </a:rPr>
              <a:t>Your page</a:t>
            </a:r>
            <a:pPr indent="0" marL="0">
              <a:buNone/>
            </a:pPr>
            <a:r>
              <a:rPr lang="en-US" sz="1100" dirty="0">
                <a:solidFill>
                  <a:srgbClr val="F27038"/>
                </a:solidFill>
                <a:latin typeface="Arial" pitchFamily="34" charset="0"/>
                <a:ea typeface="Arial" pitchFamily="34" charset="-122"/>
                <a:cs typeface="Arial" pitchFamily="34" charset="-120"/>
              </a:rPr>
              <a:t>     last updated Jan 2024</a:t>
            </a:r>
            <a:endParaRPr lang="en-US" sz="1100" dirty="0"/>
          </a:p>
        </p:txBody>
      </p:sp>
      <p:sp>
        <p:nvSpPr>
          <p:cNvPr id="20" name="Shape 18"/>
          <p:cNvSpPr/>
          <p:nvPr/>
        </p:nvSpPr>
        <p:spPr>
          <a:xfrm>
            <a:off x="777240" y="5038344"/>
            <a:ext cx="5394960" cy="347472"/>
          </a:xfrm>
          <a:prstGeom prst="rect">
            <a:avLst/>
          </a:prstGeom>
          <a:solidFill>
            <a:srgbClr val="FFFFFF"/>
          </a:solidFill>
          <a:ln w="9525">
            <a:solidFill>
              <a:srgbClr val="E9EFF4"/>
            </a:solidFill>
            <a:prstDash val="solid"/>
          </a:ln>
        </p:spPr>
      </p:sp>
      <p:sp>
        <p:nvSpPr>
          <p:cNvPr id="21" name="Text 19"/>
          <p:cNvSpPr/>
          <p:nvPr/>
        </p:nvSpPr>
        <p:spPr>
          <a:xfrm>
            <a:off x="914400" y="5038344"/>
            <a:ext cx="5120640" cy="347472"/>
          </a:xfrm>
          <a:prstGeom prst="rect">
            <a:avLst/>
          </a:prstGeom>
          <a:noFill/>
          <a:ln/>
        </p:spPr>
        <p:txBody>
          <a:bodyPr wrap="square" lIns="0" tIns="0" rIns="0" bIns="0" rtlCol="0" anchor="ctr"/>
          <a:lstStyle/>
          <a:p>
            <a:pPr indent="0" marL="0">
              <a:buNone/>
            </a:pPr>
            <a:r>
              <a:rPr lang="en-US" sz="1100" dirty="0">
                <a:solidFill>
                  <a:srgbClr val="929194"/>
                </a:solidFill>
                <a:latin typeface="Arial" pitchFamily="34" charset="0"/>
                <a:ea typeface="Arial" pitchFamily="34" charset="-122"/>
                <a:cs typeface="Arial" pitchFamily="34" charset="-120"/>
              </a:rPr>
              <a:t>5   </a:t>
            </a:r>
            <a:pPr indent="0" marL="0">
              <a:buNone/>
            </a:pPr>
            <a:r>
              <a:rPr lang="en-US" sz="1100" b="1" dirty="0">
                <a:solidFill>
                  <a:srgbClr val="2C2F33"/>
                </a:solidFill>
                <a:latin typeface="Arial" pitchFamily="34" charset="0"/>
                <a:ea typeface="Arial" pitchFamily="34" charset="-122"/>
                <a:cs typeface="Arial" pitchFamily="34" charset="-120"/>
              </a:rPr>
              <a:t>Airwallex</a:t>
            </a:r>
            <a:pPr indent="0" marL="0">
              <a:buNone/>
            </a:pPr>
            <a:r>
              <a:rPr lang="en-US" sz="1100" dirty="0">
                <a:solidFill>
                  <a:srgbClr val="929194"/>
                </a:solidFill>
                <a:latin typeface="Arial" pitchFamily="34" charset="0"/>
                <a:ea typeface="Arial" pitchFamily="34" charset="-122"/>
                <a:cs typeface="Arial" pitchFamily="34" charset="-120"/>
              </a:rPr>
              <a:t>     updated May 2026</a:t>
            </a:r>
            <a:endParaRPr lang="en-US" sz="1100" dirty="0"/>
          </a:p>
        </p:txBody>
      </p:sp>
      <p:sp>
        <p:nvSpPr>
          <p:cNvPr id="22" name="Shape 20"/>
          <p:cNvSpPr/>
          <p:nvPr/>
        </p:nvSpPr>
        <p:spPr>
          <a:xfrm>
            <a:off x="6766560" y="1828800"/>
            <a:ext cx="4846320" cy="1143000"/>
          </a:xfrm>
          <a:prstGeom prst="rect">
            <a:avLst/>
          </a:prstGeom>
          <a:solidFill>
            <a:srgbClr val="2F343A"/>
          </a:solidFill>
          <a:ln w="12700">
            <a:solidFill>
              <a:srgbClr val="2F343A"/>
            </a:solidFill>
            <a:prstDash val="solid"/>
          </a:ln>
        </p:spPr>
      </p:sp>
      <p:sp>
        <p:nvSpPr>
          <p:cNvPr id="23" name="Text 21"/>
          <p:cNvSpPr/>
          <p:nvPr/>
        </p:nvSpPr>
        <p:spPr>
          <a:xfrm>
            <a:off x="6949440" y="1938528"/>
            <a:ext cx="4480560" cy="5715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4 of 5</a:t>
            </a:r>
            <a:endParaRPr lang="en-US" sz="3000" dirty="0"/>
          </a:p>
        </p:txBody>
      </p:sp>
      <p:sp>
        <p:nvSpPr>
          <p:cNvPr id="24" name="Text 22"/>
          <p:cNvSpPr/>
          <p:nvPr/>
        </p:nvSpPr>
        <p:spPr>
          <a:xfrm>
            <a:off x="6949440" y="2457450"/>
            <a:ext cx="4480560" cy="457200"/>
          </a:xfrm>
          <a:prstGeom prst="rect">
            <a:avLst/>
          </a:prstGeom>
          <a:noFill/>
          <a:ln/>
        </p:spPr>
        <p:txBody>
          <a:bodyPr wrap="square" lIns="0" tIns="0" rIns="0" bIns="0" rtlCol="0" anchor="t"/>
          <a:lstStyle/>
          <a:p>
            <a:pPr indent="0" marL="0">
              <a:buNone/>
            </a:pPr>
            <a:r>
              <a:rPr lang="en-US" sz="1150" dirty="0">
                <a:solidFill>
                  <a:srgbClr val="E9EFF4"/>
                </a:solidFill>
                <a:latin typeface="Arial" pitchFamily="34" charset="0"/>
                <a:ea typeface="Arial" pitchFamily="34" charset="-122"/>
                <a:cs typeface="Arial" pitchFamily="34" charset="-120"/>
              </a:rPr>
              <a:t>of your key searches now show an AI answer above the first result</a:t>
            </a:r>
            <a:endParaRPr lang="en-US" sz="1150" dirty="0"/>
          </a:p>
        </p:txBody>
      </p:sp>
      <p:sp>
        <p:nvSpPr>
          <p:cNvPr id="25" name="Shape 23"/>
          <p:cNvSpPr/>
          <p:nvPr/>
        </p:nvSpPr>
        <p:spPr>
          <a:xfrm>
            <a:off x="6766560" y="3108960"/>
            <a:ext cx="4846320" cy="1143000"/>
          </a:xfrm>
          <a:prstGeom prst="rect">
            <a:avLst/>
          </a:prstGeom>
          <a:solidFill>
            <a:srgbClr val="F8F8F8"/>
          </a:solidFill>
          <a:ln w="12700">
            <a:solidFill>
              <a:srgbClr val="E9EFF4"/>
            </a:solidFill>
            <a:prstDash val="solid"/>
          </a:ln>
        </p:spPr>
      </p:sp>
      <p:sp>
        <p:nvSpPr>
          <p:cNvPr id="26" name="Text 24"/>
          <p:cNvSpPr/>
          <p:nvPr/>
        </p:nvSpPr>
        <p:spPr>
          <a:xfrm>
            <a:off x="6949440" y="3218688"/>
            <a:ext cx="4480560" cy="57150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58% fewer clicks</a:t>
            </a:r>
            <a:endParaRPr lang="en-US" sz="3000" dirty="0"/>
          </a:p>
        </p:txBody>
      </p:sp>
      <p:sp>
        <p:nvSpPr>
          <p:cNvPr id="27" name="Text 25"/>
          <p:cNvSpPr/>
          <p:nvPr/>
        </p:nvSpPr>
        <p:spPr>
          <a:xfrm>
            <a:off x="6949440" y="3737610"/>
            <a:ext cx="4480560" cy="457200"/>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to the #1 result when an AI answer is present (industry benchmark)</a:t>
            </a:r>
            <a:endParaRPr lang="en-US" sz="1150" dirty="0"/>
          </a:p>
        </p:txBody>
      </p:sp>
      <p:sp>
        <p:nvSpPr>
          <p:cNvPr id="28" name="Text 26"/>
          <p:cNvSpPr/>
          <p:nvPr/>
        </p:nvSpPr>
        <p:spPr>
          <a:xfrm>
            <a:off x="6766560" y="4389120"/>
            <a:ext cx="4846320" cy="1097280"/>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Your biggest page used to get 14,100 visits a month at #1. Even back at #1, with the AI answer sitting on top, it will not get there again. The recovery has to come from more pages, not from one page returning to its old number.</a:t>
            </a:r>
            <a:endParaRPr lang="en-US" sz="1150" dirty="0"/>
          </a:p>
        </p:txBody>
      </p:sp>
      <p:sp>
        <p:nvSpPr>
          <p:cNvPr id="29" name="Shape 27"/>
          <p:cNvSpPr/>
          <p:nvPr/>
        </p:nvSpPr>
        <p:spPr>
          <a:xfrm>
            <a:off x="548640" y="5623560"/>
            <a:ext cx="11064240" cy="566928"/>
          </a:xfrm>
          <a:prstGeom prst="rect">
            <a:avLst/>
          </a:prstGeom>
          <a:solidFill>
            <a:srgbClr val="E9EFF4"/>
          </a:solidFill>
          <a:ln w="12700">
            <a:solidFill>
              <a:srgbClr val="E9EFF4"/>
            </a:solidFill>
            <a:prstDash val="solid"/>
          </a:ln>
        </p:spPr>
      </p:sp>
      <p:sp>
        <p:nvSpPr>
          <p:cNvPr id="30" name="Shape 28"/>
          <p:cNvSpPr/>
          <p:nvPr/>
        </p:nvSpPr>
        <p:spPr>
          <a:xfrm>
            <a:off x="548640" y="5623560"/>
            <a:ext cx="82296" cy="566928"/>
          </a:xfrm>
          <a:prstGeom prst="rect">
            <a:avLst/>
          </a:prstGeom>
          <a:solidFill>
            <a:srgbClr val="F27038"/>
          </a:solidFill>
          <a:ln w="12700">
            <a:solidFill>
              <a:srgbClr val="F27038"/>
            </a:solidFill>
            <a:prstDash val="solid"/>
          </a:ln>
        </p:spPr>
      </p:sp>
      <p:sp>
        <p:nvSpPr>
          <p:cNvPr id="31" name="Text 29"/>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This is the single biggest reason a target of "back to 140K visits" is the wrong promise. The page has changed under everyone, including Ramp.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WHAT IT IS PROBABLY NOT</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The data points to page age, not to links or a penalty. We confirm that in week one, before spending on either.</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6</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sites linking to each page (referring domains) and ranking change, your 18 biggest pages</a:t>
            </a:r>
            <a:endParaRPr lang="en-US" sz="850" dirty="0"/>
          </a:p>
        </p:txBody>
      </p:sp>
      <p:graphicFrame>
        <p:nvGraphicFramePr>
          <p:cNvPr id="8" name="Chart 0" descr=""/>
          <p:cNvGraphicFramePr/>
          <p:nvPr/>
        </p:nvGraphicFramePr>
        <p:xfrm>
          <a:off x="548640" y="1828800"/>
          <a:ext cx="6949440" cy="36118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7772400" y="1920240"/>
            <a:ext cx="3840480" cy="3566160"/>
          </a:xfrm>
          <a:prstGeom prst="rect">
            <a:avLst/>
          </a:prstGeom>
          <a:noFill/>
          <a:ln/>
        </p:spPr>
        <p:txBody>
          <a:bodyPr wrap="square" lIns="0" tIns="0" rIns="0" bIns="0" rtlCol="0" anchor="t"/>
          <a:lstStyle/>
          <a:p>
            <a:pPr indent="0" marL="0">
              <a:spcAft>
                <a:spcPts val="400"/>
              </a:spcAft>
              <a:buNone/>
            </a:pPr>
            <a:r>
              <a:rPr lang="en-US" sz="1400" b="1" dirty="0">
                <a:solidFill>
                  <a:srgbClr val="2F343A"/>
                </a:solidFill>
                <a:latin typeface="Arial" pitchFamily="34" charset="0"/>
                <a:ea typeface="Arial" pitchFamily="34" charset="-122"/>
                <a:cs typeface="Arial" pitchFamily="34" charset="-120"/>
              </a:rPr>
              <a:t>Three signs it is page age, not links</a:t>
            </a:r>
            <a:endParaRPr lang="en-US" sz="1150" dirty="0"/>
          </a:p>
          <a:p>
            <a:pPr indent="0" marL="0">
              <a:spcAft>
                <a:spcPts val="400"/>
              </a:spcAft>
              <a:buNone/>
            </a:pPr>
            <a:r>
              <a:rPr lang="en-US" sz="600" dirty="0">
                <a:solidFill>
                  <a:srgbClr val="2C2F33"/>
                </a:solidFill>
                <a:latin typeface="Arial" pitchFamily="34" charset="0"/>
                <a:ea typeface="Arial" pitchFamily="34" charset="-122"/>
                <a:cs typeface="Arial" pitchFamily="34" charset="-120"/>
              </a:rPr>
              <a:t> </a:t>
            </a:r>
            <a:endParaRPr lang="en-US" sz="1150" dirty="0"/>
          </a:p>
          <a:p>
            <a:pPr marL="342900" indent="-342900">
              <a:spcAft>
                <a:spcPts val="400"/>
              </a:spcAft>
              <a:buSzPct val="100000"/>
              <a:buChar char="•"/>
            </a:pPr>
            <a:r>
              <a:rPr lang="en-US" sz="1150" dirty="0">
                <a:solidFill>
                  <a:srgbClr val="2C2F33"/>
                </a:solidFill>
                <a:latin typeface="Arial" pitchFamily="34" charset="0"/>
                <a:ea typeface="Arial" pitchFamily="34" charset="-122"/>
                <a:cs typeface="Arial" pitchFamily="34" charset="-120"/>
              </a:rPr>
              <a:t>5 of your 18 top pages, on the same site and template, held or grew. A penalty drags everything down.</a:t>
            </a:r>
            <a:endParaRPr lang="en-US" sz="1150" dirty="0"/>
          </a:p>
          <a:p>
            <a:pPr marL="342900" indent="-342900">
              <a:spcAft>
                <a:spcPts val="400"/>
              </a:spcAft>
              <a:buSzPct val="100000"/>
              <a:buChar char="•"/>
            </a:pPr>
            <a:r>
              <a:rPr lang="en-US" sz="1150" dirty="0">
                <a:solidFill>
                  <a:srgbClr val="2C2F33"/>
                </a:solidFill>
                <a:latin typeface="Arial" pitchFamily="34" charset="0"/>
                <a:ea typeface="Arial" pitchFamily="34" charset="-122"/>
                <a:cs typeface="Arial" pitchFamily="34" charset="-120"/>
              </a:rPr>
              <a:t>Your best-linked pages fell the least, 2 to 5 places. The pages that fell 17 to 38 places have the fewest links.</a:t>
            </a:r>
            <a:endParaRPr lang="en-US" sz="1150" dirty="0"/>
          </a:p>
          <a:p>
            <a:pPr marL="342900" indent="-342900">
              <a:spcAft>
                <a:spcPts val="400"/>
              </a:spcAft>
              <a:buSzPct val="100000"/>
              <a:buChar char="•"/>
            </a:pPr>
            <a:r>
              <a:rPr lang="en-US" sz="1150" dirty="0">
                <a:solidFill>
                  <a:srgbClr val="2C2F33"/>
                </a:solidFill>
                <a:latin typeface="Arial" pitchFamily="34" charset="0"/>
                <a:ea typeface="Arial" pitchFamily="34" charset="-122"/>
                <a:cs typeface="Arial" pitchFamily="34" charset="-120"/>
              </a:rPr>
              <a:t>Once page age is taken into account, link counts explain none of the drop.</a:t>
            </a:r>
            <a:endParaRPr lang="en-US" sz="1150" dirty="0"/>
          </a:p>
          <a:p>
            <a:pPr indent="0" marL="0">
              <a:spcAft>
                <a:spcPts val="400"/>
              </a:spcAft>
              <a:buNone/>
            </a:pPr>
            <a:r>
              <a:rPr lang="en-US" sz="600" dirty="0">
                <a:solidFill>
                  <a:srgbClr val="2C2F33"/>
                </a:solidFill>
                <a:latin typeface="Arial" pitchFamily="34" charset="0"/>
                <a:ea typeface="Arial" pitchFamily="34" charset="-122"/>
                <a:cs typeface="Arial" pitchFamily="34" charset="-120"/>
              </a:rPr>
              <a:t> </a:t>
            </a:r>
            <a:endParaRPr lang="en-US" sz="1150" dirty="0"/>
          </a:p>
          <a:p>
            <a:pPr indent="0" marL="0">
              <a:spcAft>
                <a:spcPts val="400"/>
              </a:spcAft>
              <a:buNone/>
            </a:pPr>
            <a:r>
              <a:rPr lang="en-US" sz="1150" dirty="0">
                <a:solidFill>
                  <a:srgbClr val="6C757D"/>
                </a:solidFill>
                <a:latin typeface="Arial" pitchFamily="34" charset="0"/>
                <a:ea typeface="Arial" pitchFamily="34" charset="-122"/>
                <a:cs typeface="Arial" pitchFamily="34" charset="-120"/>
              </a:rPr>
              <a:t>What this data cannot see: whether any of your links are poor quality, whether links were lost this year, or whether competitors simply out-built you. The week-one link check covers all three. If it finds a problem, the order flips: links first, rewriting second.</a:t>
            </a:r>
            <a:endParaRPr lang="en-US" sz="1150" dirty="0"/>
          </a:p>
        </p:txBody>
      </p:sp>
      <p:sp>
        <p:nvSpPr>
          <p:cNvPr id="10" name="Shape 7"/>
          <p:cNvSpPr/>
          <p:nvPr/>
        </p:nvSpPr>
        <p:spPr>
          <a:xfrm>
            <a:off x="548640" y="5623560"/>
            <a:ext cx="11064240" cy="566928"/>
          </a:xfrm>
          <a:prstGeom prst="rect">
            <a:avLst/>
          </a:prstGeom>
          <a:solidFill>
            <a:srgbClr val="E9EFF4"/>
          </a:solidFill>
          <a:ln w="12700">
            <a:solidFill>
              <a:srgbClr val="E9EFF4"/>
            </a:solidFill>
            <a:prstDash val="solid"/>
          </a:ln>
        </p:spPr>
      </p:sp>
      <p:sp>
        <p:nvSpPr>
          <p:cNvPr id="11" name="Shape 8"/>
          <p:cNvSpPr/>
          <p:nvPr/>
        </p:nvSpPr>
        <p:spPr>
          <a:xfrm>
            <a:off x="548640" y="5623560"/>
            <a:ext cx="82296" cy="566928"/>
          </a:xfrm>
          <a:prstGeom prst="rect">
            <a:avLst/>
          </a:prstGeom>
          <a:solidFill>
            <a:srgbClr val="F27038"/>
          </a:solidFill>
          <a:ln w="12700">
            <a:solidFill>
              <a:srgbClr val="F27038"/>
            </a:solidFill>
            <a:prstDash val="solid"/>
          </a:ln>
        </p:spPr>
      </p:sp>
      <p:sp>
        <p:nvSpPr>
          <p:cNvPr id="12" name="Text 9"/>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The first month looks the same either way: fix the comparison page, redirect the expired pages, run the link check. Its result decides the next five months.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THE REAL QUESTION</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Almost half of the lost visits came from pages that have never produced a lead.</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7</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leads (conversions) in the last 90 days by page, your 18 biggest pages</a:t>
            </a:r>
            <a:endParaRPr lang="en-US" sz="850" dirty="0"/>
          </a:p>
        </p:txBody>
      </p:sp>
      <p:graphicFrame>
        <p:nvGraphicFramePr>
          <p:cNvPr id="8" name="Chart 0" descr=""/>
          <p:cNvGraphicFramePr/>
          <p:nvPr/>
        </p:nvGraphicFramePr>
        <p:xfrm>
          <a:off x="548640" y="1828800"/>
          <a:ext cx="6949440" cy="18288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48640" y="3931920"/>
            <a:ext cx="3291840" cy="1463040"/>
          </a:xfrm>
          <a:prstGeom prst="rect">
            <a:avLst/>
          </a:prstGeom>
          <a:solidFill>
            <a:srgbClr val="F8F8F8"/>
          </a:solidFill>
          <a:ln w="12700">
            <a:solidFill>
              <a:srgbClr val="E9EFF4"/>
            </a:solidFill>
            <a:prstDash val="solid"/>
          </a:ln>
        </p:spPr>
      </p:sp>
      <p:sp>
        <p:nvSpPr>
          <p:cNvPr id="10" name="Text 7"/>
          <p:cNvSpPr/>
          <p:nvPr/>
        </p:nvSpPr>
        <p:spPr>
          <a:xfrm>
            <a:off x="731520" y="4041648"/>
            <a:ext cx="2926080" cy="73152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46%</a:t>
            </a:r>
            <a:endParaRPr lang="en-US" sz="3000" dirty="0"/>
          </a:p>
        </p:txBody>
      </p:sp>
      <p:sp>
        <p:nvSpPr>
          <p:cNvPr id="11" name="Text 8"/>
          <p:cNvSpPr/>
          <p:nvPr/>
        </p:nvSpPr>
        <p:spPr>
          <a:xfrm>
            <a:off x="731520" y="4736592"/>
            <a:ext cx="2926080" cy="585216"/>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of lost visits were on pages with zero leads in 90 days</a:t>
            </a:r>
            <a:endParaRPr lang="en-US" sz="1150" dirty="0"/>
          </a:p>
        </p:txBody>
      </p:sp>
      <p:sp>
        <p:nvSpPr>
          <p:cNvPr id="12" name="Shape 9"/>
          <p:cNvSpPr/>
          <p:nvPr/>
        </p:nvSpPr>
        <p:spPr>
          <a:xfrm>
            <a:off x="4023360" y="3931920"/>
            <a:ext cx="3474720" cy="1463040"/>
          </a:xfrm>
          <a:prstGeom prst="rect">
            <a:avLst/>
          </a:prstGeom>
          <a:solidFill>
            <a:srgbClr val="2F343A"/>
          </a:solidFill>
          <a:ln w="12700">
            <a:solidFill>
              <a:srgbClr val="2F343A"/>
            </a:solidFill>
            <a:prstDash val="solid"/>
          </a:ln>
        </p:spPr>
      </p:sp>
      <p:sp>
        <p:nvSpPr>
          <p:cNvPr id="13" name="Text 10"/>
          <p:cNvSpPr/>
          <p:nvPr/>
        </p:nvSpPr>
        <p:spPr>
          <a:xfrm>
            <a:off x="4206240" y="4041648"/>
            <a:ext cx="310896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4 pages</a:t>
            </a:r>
            <a:endParaRPr lang="en-US" sz="3000" dirty="0"/>
          </a:p>
        </p:txBody>
      </p:sp>
      <p:sp>
        <p:nvSpPr>
          <p:cNvPr id="14" name="Text 11"/>
          <p:cNvSpPr/>
          <p:nvPr/>
        </p:nvSpPr>
        <p:spPr>
          <a:xfrm>
            <a:off x="4206240" y="4736592"/>
            <a:ext cx="3108960" cy="585216"/>
          </a:xfrm>
          <a:prstGeom prst="rect">
            <a:avLst/>
          </a:prstGeom>
          <a:noFill/>
          <a:ln/>
        </p:spPr>
        <p:txBody>
          <a:bodyPr wrap="square" lIns="0" tIns="0" rIns="0" bIns="0" rtlCol="0" anchor="t"/>
          <a:lstStyle/>
          <a:p>
            <a:pPr indent="0" marL="0">
              <a:buNone/>
            </a:pPr>
            <a:r>
              <a:rPr lang="en-US" sz="1150" dirty="0">
                <a:solidFill>
                  <a:srgbClr val="E9EFF4"/>
                </a:solidFill>
                <a:latin typeface="Arial" pitchFamily="34" charset="0"/>
                <a:ea typeface="Arial" pitchFamily="34" charset="-122"/>
                <a:cs typeface="Arial" pitchFamily="34" charset="-120"/>
              </a:rPr>
              <a:t>produce 77.5% of all your leads from search</a:t>
            </a:r>
            <a:endParaRPr lang="en-US" sz="1150" dirty="0"/>
          </a:p>
        </p:txBody>
      </p:sp>
      <p:sp>
        <p:nvSpPr>
          <p:cNvPr id="15" name="Text 12"/>
          <p:cNvSpPr/>
          <p:nvPr/>
        </p:nvSpPr>
        <p:spPr>
          <a:xfrm>
            <a:off x="7772400" y="1920240"/>
            <a:ext cx="3840480" cy="3566160"/>
          </a:xfrm>
          <a:prstGeom prst="rect">
            <a:avLst/>
          </a:prstGeom>
          <a:noFill/>
          <a:ln/>
        </p:spPr>
        <p:txBody>
          <a:bodyPr wrap="square" lIns="0" tIns="0" rIns="0" bIns="0" rtlCol="0" anchor="t"/>
          <a:lstStyle/>
          <a:p>
            <a:pPr indent="0" marL="0">
              <a:buNone/>
            </a:pPr>
            <a:r>
              <a:rPr lang="en-US" sz="1400" b="1" dirty="0">
                <a:solidFill>
                  <a:srgbClr val="2F343A"/>
                </a:solidFill>
                <a:latin typeface="Arial" pitchFamily="34" charset="0"/>
                <a:ea typeface="Arial" pitchFamily="34" charset="-122"/>
                <a:cs typeface="Arial" pitchFamily="34" charset="-120"/>
              </a:rPr>
              <a:t>Example</a:t>
            </a:r>
            <a:endParaRPr lang="en-US" sz="1150" dirty="0"/>
          </a:p>
          <a:p>
            <a:pPr indent="0" marL="0">
              <a:buNone/>
            </a:pPr>
            <a:r>
              <a:rPr lang="en-US" sz="600" dirty="0">
                <a:solidFill>
                  <a:srgbClr val="2C2F33"/>
                </a:solidFill>
                <a:latin typeface="Arial" pitchFamily="34" charset="0"/>
                <a:ea typeface="Arial" pitchFamily="34" charset="-122"/>
                <a:cs typeface="Arial" pitchFamily="34" charset="-120"/>
              </a:rPr>
              <a:t> </a:t>
            </a:r>
            <a:endParaRPr lang="en-US" sz="1150" dirty="0"/>
          </a:p>
          <a:p>
            <a:pPr indent="0" marL="0">
              <a:buNone/>
            </a:pPr>
            <a:r>
              <a:rPr lang="en-US" sz="1150" dirty="0">
                <a:solidFill>
                  <a:srgbClr val="2C2F33"/>
                </a:solidFill>
                <a:latin typeface="Arial" pitchFamily="34" charset="0"/>
                <a:ea typeface="Arial" pitchFamily="34" charset="-122"/>
                <a:cs typeface="Arial" pitchFamily="34" charset="-120"/>
              </a:rPr>
              <a:t>Your "per diem rates 2022" page used to bring 7,800 visits a month. It brought zero leads. Winning that traffic back would make the traffic chart look better and change nothing for sales.</a:t>
            </a:r>
            <a:endParaRPr lang="en-US" sz="1150" dirty="0"/>
          </a:p>
          <a:p>
            <a:pPr indent="0" marL="0">
              <a:buNone/>
            </a:pPr>
            <a:r>
              <a:rPr lang="en-US" sz="600" dirty="0">
                <a:solidFill>
                  <a:srgbClr val="2C2F33"/>
                </a:solidFill>
                <a:latin typeface="Arial" pitchFamily="34" charset="0"/>
                <a:ea typeface="Arial" pitchFamily="34" charset="-122"/>
                <a:cs typeface="Arial" pitchFamily="34" charset="-120"/>
              </a:rPr>
              <a:t> </a:t>
            </a:r>
            <a:endParaRPr lang="en-US" sz="1150" dirty="0"/>
          </a:p>
          <a:p>
            <a:pPr indent="0" marL="0">
              <a:buNone/>
            </a:pPr>
            <a:r>
              <a:rPr lang="en-US" sz="1150" dirty="0">
                <a:solidFill>
                  <a:srgbClr val="2C2F33"/>
                </a:solidFill>
                <a:latin typeface="Arial" pitchFamily="34" charset="0"/>
                <a:ea typeface="Arial" pitchFamily="34" charset="-122"/>
                <a:cs typeface="Arial" pitchFamily="34" charset="-120"/>
              </a:rPr>
              <a:t>Your "vs Ramp" comparison page brings 1,100 visits a month and 44 leads. It is the most valuable page on the site and it has slipped from 6th to 11th.</a:t>
            </a:r>
            <a:endParaRPr lang="en-US" sz="1150" dirty="0"/>
          </a:p>
        </p:txBody>
      </p:sp>
      <p:sp>
        <p:nvSpPr>
          <p:cNvPr id="16" name="Shape 13"/>
          <p:cNvSpPr/>
          <p:nvPr/>
        </p:nvSpPr>
        <p:spPr>
          <a:xfrm>
            <a:off x="548640" y="5623560"/>
            <a:ext cx="11064240" cy="566928"/>
          </a:xfrm>
          <a:prstGeom prst="rect">
            <a:avLst/>
          </a:prstGeom>
          <a:solidFill>
            <a:srgbClr val="E9EFF4"/>
          </a:solidFill>
          <a:ln w="12700">
            <a:solidFill>
              <a:srgbClr val="E9EFF4"/>
            </a:solidFill>
            <a:prstDash val="solid"/>
          </a:ln>
        </p:spPr>
      </p:sp>
      <p:sp>
        <p:nvSpPr>
          <p:cNvPr id="17" name="Shape 14"/>
          <p:cNvSpPr/>
          <p:nvPr/>
        </p:nvSpPr>
        <p:spPr>
          <a:xfrm>
            <a:off x="548640" y="5623560"/>
            <a:ext cx="82296" cy="566928"/>
          </a:xfrm>
          <a:prstGeom prst="rect">
            <a:avLst/>
          </a:prstGeom>
          <a:solidFill>
            <a:srgbClr val="F27038"/>
          </a:solidFill>
          <a:ln w="12700">
            <a:solidFill>
              <a:srgbClr val="F27038"/>
            </a:solidFill>
            <a:prstDash val="solid"/>
          </a:ln>
        </p:spPr>
      </p:sp>
      <p:sp>
        <p:nvSpPr>
          <p:cNvPr id="18" name="Text 15"/>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Chasing the old traffic number means spending the budget on pages that never paid. We would rather spend it on the ones that do.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THE REAL QUESTION</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Comparison pages turn visitors into leads about 7 times better than your site average.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8</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leads in the last 90 days per 1,000 visits, grouped by topic. Site average across the 18 pages: 1.85.</a:t>
            </a:r>
            <a:endParaRPr lang="en-US" sz="850" dirty="0"/>
          </a:p>
        </p:txBody>
      </p:sp>
      <p:graphicFrame>
        <p:nvGraphicFramePr>
          <p:cNvPr id="8" name="Chart 0" descr=""/>
          <p:cNvGraphicFramePr/>
          <p:nvPr/>
        </p:nvGraphicFramePr>
        <p:xfrm>
          <a:off x="548640" y="1828800"/>
          <a:ext cx="7498080" cy="3657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8321040" y="1920240"/>
            <a:ext cx="3291840" cy="3566160"/>
          </a:xfrm>
          <a:prstGeom prst="rect">
            <a:avLst/>
          </a:prstGeom>
          <a:noFill/>
          <a:ln/>
        </p:spPr>
        <p:txBody>
          <a:bodyPr wrap="square" lIns="0" tIns="0" rIns="0" bIns="0" rtlCol="0" anchor="t"/>
          <a:lstStyle/>
          <a:p>
            <a:pPr indent="0" marL="0">
              <a:spcAft>
                <a:spcPts val="400"/>
              </a:spcAft>
              <a:buNone/>
            </a:pPr>
            <a:r>
              <a:rPr lang="en-US" sz="1400" b="1" dirty="0">
                <a:solidFill>
                  <a:srgbClr val="2F343A"/>
                </a:solidFill>
                <a:latin typeface="Arial" pitchFamily="34" charset="0"/>
                <a:ea typeface="Arial" pitchFamily="34" charset="-122"/>
                <a:cs typeface="Arial" pitchFamily="34" charset="-120"/>
              </a:rPr>
              <a:t>What this means for the plan</a:t>
            </a:r>
            <a:endParaRPr lang="en-US" sz="1150" dirty="0"/>
          </a:p>
          <a:p>
            <a:pPr indent="0" marL="0">
              <a:spcAft>
                <a:spcPts val="400"/>
              </a:spcAft>
              <a:buNone/>
            </a:pPr>
            <a:r>
              <a:rPr lang="en-US" sz="600" dirty="0">
                <a:solidFill>
                  <a:srgbClr val="2C2F33"/>
                </a:solidFill>
                <a:latin typeface="Arial" pitchFamily="34" charset="0"/>
                <a:ea typeface="Arial" pitchFamily="34" charset="-122"/>
                <a:cs typeface="Arial" pitchFamily="34" charset="-120"/>
              </a:rPr>
              <a:t> </a:t>
            </a:r>
            <a:endParaRPr lang="en-US" sz="1150" dirty="0"/>
          </a:p>
          <a:p>
            <a:pPr marL="342900" indent="-342900">
              <a:spcAft>
                <a:spcPts val="400"/>
              </a:spcAft>
              <a:buSzPct val="100000"/>
              <a:buChar char="•"/>
            </a:pPr>
            <a:r>
              <a:rPr lang="en-US" sz="1150" dirty="0">
                <a:solidFill>
                  <a:srgbClr val="2C2F33"/>
                </a:solidFill>
                <a:latin typeface="Arial" pitchFamily="34" charset="0"/>
                <a:ea typeface="Arial" pitchFamily="34" charset="-122"/>
                <a:cs typeface="Arial" pitchFamily="34" charset="-120"/>
              </a:rPr>
              <a:t>The comparison pages are small in traffic and huge in leads. They get fixed first.</a:t>
            </a:r>
            <a:endParaRPr lang="en-US" sz="1150" dirty="0"/>
          </a:p>
          <a:p>
            <a:pPr marL="342900" indent="-342900">
              <a:spcAft>
                <a:spcPts val="400"/>
              </a:spcAft>
              <a:buSzPct val="100000"/>
              <a:buChar char="•"/>
            </a:pPr>
            <a:r>
              <a:rPr lang="en-US" sz="1150" dirty="0">
                <a:solidFill>
                  <a:srgbClr val="2C2F33"/>
                </a:solidFill>
                <a:latin typeface="Arial" pitchFamily="34" charset="0"/>
                <a:ea typeface="Arial" pitchFamily="34" charset="-122"/>
                <a:cs typeface="Arial" pitchFamily="34" charset="-120"/>
              </a:rPr>
              <a:t>The big guides still matter: they hold most of your authority and feed the comparison pages. They get refreshed, not abandoned.</a:t>
            </a:r>
            <a:endParaRPr lang="en-US" sz="1150" dirty="0"/>
          </a:p>
          <a:p>
            <a:pPr marL="342900" indent="-342900">
              <a:spcAft>
                <a:spcPts val="400"/>
              </a:spcAft>
              <a:buSzPct val="100000"/>
              <a:buChar char="•"/>
            </a:pPr>
            <a:r>
              <a:rPr lang="en-US" sz="1150" dirty="0">
                <a:solidFill>
                  <a:srgbClr val="2C2F33"/>
                </a:solidFill>
                <a:latin typeface="Arial" pitchFamily="34" charset="0"/>
                <a:ea typeface="Arial" pitchFamily="34" charset="-122"/>
                <a:cs typeface="Arial" pitchFamily="34" charset="-120"/>
              </a:rPr>
              <a:t>The rates, deadlines and off-topic pages get tidied up and no new investment.</a:t>
            </a:r>
            <a:endParaRPr lang="en-US" sz="1150" dirty="0"/>
          </a:p>
        </p:txBody>
      </p:sp>
      <p:sp>
        <p:nvSpPr>
          <p:cNvPr id="10" name="Shape 7"/>
          <p:cNvSpPr/>
          <p:nvPr/>
        </p:nvSpPr>
        <p:spPr>
          <a:xfrm>
            <a:off x="548640" y="5623560"/>
            <a:ext cx="11064240" cy="566928"/>
          </a:xfrm>
          <a:prstGeom prst="rect">
            <a:avLst/>
          </a:prstGeom>
          <a:solidFill>
            <a:srgbClr val="E9EFF4"/>
          </a:solidFill>
          <a:ln w="12700">
            <a:solidFill>
              <a:srgbClr val="E9EFF4"/>
            </a:solidFill>
            <a:prstDash val="solid"/>
          </a:ln>
        </p:spPr>
      </p:sp>
      <p:sp>
        <p:nvSpPr>
          <p:cNvPr id="11" name="Shape 8"/>
          <p:cNvSpPr/>
          <p:nvPr/>
        </p:nvSpPr>
        <p:spPr>
          <a:xfrm>
            <a:off x="548640" y="5623560"/>
            <a:ext cx="82296" cy="566928"/>
          </a:xfrm>
          <a:prstGeom prst="rect">
            <a:avLst/>
          </a:prstGeom>
          <a:solidFill>
            <a:srgbClr val="F27038"/>
          </a:solidFill>
          <a:ln w="12700">
            <a:solidFill>
              <a:srgbClr val="F27038"/>
            </a:solidFill>
            <a:prstDash val="solid"/>
          </a:ln>
        </p:spPr>
      </p:sp>
      <p:sp>
        <p:nvSpPr>
          <p:cNvPr id="12" name="Text 9"/>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One caveat we will close in week one: a lead is only worth counting if sales can use it. We need your CRM data to confirm which pages bring the good ones.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THE PROPOSAL</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Measure what reaches sales, not what reaches the site.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9</a:t>
            </a:r>
            <a:endParaRPr lang="en-US" sz="1000" dirty="0"/>
          </a:p>
        </p:txBody>
      </p:sp>
      <p:sp>
        <p:nvSpPr>
          <p:cNvPr id="7" name="Shape 5"/>
          <p:cNvSpPr/>
          <p:nvPr/>
        </p:nvSpPr>
        <p:spPr>
          <a:xfrm>
            <a:off x="548640" y="1828800"/>
            <a:ext cx="5303520" cy="3611880"/>
          </a:xfrm>
          <a:prstGeom prst="rect">
            <a:avLst/>
          </a:prstGeom>
          <a:solidFill>
            <a:srgbClr val="F8F8F8"/>
          </a:solidFill>
          <a:ln w="12700">
            <a:solidFill>
              <a:srgbClr val="E9EFF4"/>
            </a:solidFill>
            <a:prstDash val="solid"/>
          </a:ln>
        </p:spPr>
      </p:sp>
      <p:sp>
        <p:nvSpPr>
          <p:cNvPr id="8" name="Text 6"/>
          <p:cNvSpPr/>
          <p:nvPr/>
        </p:nvSpPr>
        <p:spPr>
          <a:xfrm>
            <a:off x="822960" y="2011680"/>
            <a:ext cx="4754880" cy="274320"/>
          </a:xfrm>
          <a:prstGeom prst="rect">
            <a:avLst/>
          </a:prstGeom>
          <a:noFill/>
          <a:ln/>
        </p:spPr>
        <p:txBody>
          <a:bodyPr wrap="square" lIns="0" tIns="0" rIns="0" bIns="0" rtlCol="0" anchor="ctr"/>
          <a:lstStyle/>
          <a:p>
            <a:pPr indent="0" marL="0">
              <a:buNone/>
            </a:pPr>
            <a:r>
              <a:rPr lang="en-US" sz="1100" b="1" spc="200" kern="0" dirty="0">
                <a:solidFill>
                  <a:srgbClr val="929194"/>
                </a:solidFill>
                <a:latin typeface="Arial" pitchFamily="34" charset="0"/>
                <a:ea typeface="Arial" pitchFamily="34" charset="-122"/>
                <a:cs typeface="Arial" pitchFamily="34" charset="-120"/>
              </a:rPr>
              <a:t>TODAY'S TARGET</a:t>
            </a:r>
            <a:endParaRPr lang="en-US" sz="1100" dirty="0"/>
          </a:p>
        </p:txBody>
      </p:sp>
      <p:sp>
        <p:nvSpPr>
          <p:cNvPr id="9" name="Text 7"/>
          <p:cNvSpPr/>
          <p:nvPr/>
        </p:nvSpPr>
        <p:spPr>
          <a:xfrm>
            <a:off x="822960" y="2331720"/>
            <a:ext cx="4754880" cy="731520"/>
          </a:xfrm>
          <a:prstGeom prst="rect">
            <a:avLst/>
          </a:prstGeom>
          <a:noFill/>
          <a:ln/>
        </p:spPr>
        <p:txBody>
          <a:bodyPr wrap="square" lIns="0" tIns="0" rIns="0" bIns="0" rtlCol="0" anchor="t"/>
          <a:lstStyle/>
          <a:p>
            <a:pPr indent="0" marL="0">
              <a:buNone/>
            </a:pPr>
            <a:r>
              <a:rPr lang="en-US" sz="2200" b="1" dirty="0">
                <a:solidFill>
                  <a:srgbClr val="2F343A"/>
                </a:solidFill>
                <a:latin typeface="Arial" pitchFamily="34" charset="0"/>
                <a:ea typeface="Arial" pitchFamily="34" charset="-122"/>
                <a:cs typeface="Arial" pitchFamily="34" charset="-120"/>
              </a:rPr>
              <a:t>Back to 140,000 visits a month</a:t>
            </a:r>
            <a:endParaRPr lang="en-US" sz="2200" dirty="0"/>
          </a:p>
        </p:txBody>
      </p:sp>
      <p:sp>
        <p:nvSpPr>
          <p:cNvPr id="10" name="Text 8"/>
          <p:cNvSpPr/>
          <p:nvPr/>
        </p:nvSpPr>
        <p:spPr>
          <a:xfrm>
            <a:off x="822960" y="3154680"/>
            <a:ext cx="4754880" cy="21945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C2F33"/>
                </a:solidFill>
                <a:latin typeface="Arial" pitchFamily="34" charset="0"/>
                <a:ea typeface="Arial" pitchFamily="34" charset="-122"/>
                <a:cs typeface="Arial" pitchFamily="34" charset="-120"/>
              </a:rPr>
              <a:t>The number has no stated source. If it came from a ranking tool it is an estimate, not real visits.</a:t>
            </a:r>
            <a:endParaRPr lang="en-US" sz="1150" dirty="0"/>
          </a:p>
          <a:p>
            <a:pPr marL="342900" indent="-342900">
              <a:spcAft>
                <a:spcPts val="500"/>
              </a:spcAft>
              <a:buSzPct val="100000"/>
              <a:buChar char="•"/>
            </a:pPr>
            <a:r>
              <a:rPr lang="en-US" sz="1150" dirty="0">
                <a:solidFill>
                  <a:srgbClr val="2C2F33"/>
                </a:solidFill>
                <a:latin typeface="Arial" pitchFamily="34" charset="0"/>
                <a:ea typeface="Arial" pitchFamily="34" charset="-122"/>
                <a:cs typeface="Arial" pitchFamily="34" charset="-120"/>
              </a:rPr>
              <a:t>46% of what was lost never produced a lead.</a:t>
            </a:r>
            <a:endParaRPr lang="en-US" sz="1150" dirty="0"/>
          </a:p>
          <a:p>
            <a:pPr marL="342900" indent="-342900">
              <a:spcAft>
                <a:spcPts val="500"/>
              </a:spcAft>
              <a:buSzPct val="100000"/>
              <a:buChar char="•"/>
            </a:pPr>
            <a:r>
              <a:rPr lang="en-US" sz="1150" dirty="0">
                <a:solidFill>
                  <a:srgbClr val="2C2F33"/>
                </a:solidFill>
                <a:latin typeface="Arial" pitchFamily="34" charset="0"/>
                <a:ea typeface="Arial" pitchFamily="34" charset="-122"/>
                <a:cs typeface="Arial" pitchFamily="34" charset="-120"/>
              </a:rPr>
              <a:t>The AI answer on your biggest searches means the old pages cannot return to their old numbers.</a:t>
            </a:r>
            <a:endParaRPr lang="en-US" sz="1150" dirty="0"/>
          </a:p>
          <a:p>
            <a:pPr marL="342900" indent="-342900">
              <a:spcAft>
                <a:spcPts val="500"/>
              </a:spcAft>
              <a:buSzPct val="100000"/>
              <a:buChar char="•"/>
            </a:pPr>
            <a:r>
              <a:rPr lang="en-US" sz="1150" dirty="0">
                <a:solidFill>
                  <a:srgbClr val="2C2F33"/>
                </a:solidFill>
                <a:latin typeface="Arial" pitchFamily="34" charset="0"/>
                <a:ea typeface="Arial" pitchFamily="34" charset="-122"/>
                <a:cs typeface="Arial" pitchFamily="34" charset="-120"/>
              </a:rPr>
              <a:t>Hitting it would prove traffic went up. It would not prove the business got anything.</a:t>
            </a:r>
            <a:endParaRPr lang="en-US" sz="1150" dirty="0"/>
          </a:p>
        </p:txBody>
      </p:sp>
      <p:sp>
        <p:nvSpPr>
          <p:cNvPr id="11" name="Shape 9"/>
          <p:cNvSpPr/>
          <p:nvPr/>
        </p:nvSpPr>
        <p:spPr>
          <a:xfrm>
            <a:off x="6309360" y="1828800"/>
            <a:ext cx="5303520" cy="3611880"/>
          </a:xfrm>
          <a:prstGeom prst="rect">
            <a:avLst/>
          </a:prstGeom>
          <a:solidFill>
            <a:srgbClr val="2F343A"/>
          </a:solidFill>
          <a:ln w="12700">
            <a:solidFill>
              <a:srgbClr val="2F343A"/>
            </a:solidFill>
            <a:prstDash val="solid"/>
          </a:ln>
        </p:spPr>
      </p:sp>
      <p:sp>
        <p:nvSpPr>
          <p:cNvPr id="12" name="Shape 10"/>
          <p:cNvSpPr/>
          <p:nvPr/>
        </p:nvSpPr>
        <p:spPr>
          <a:xfrm>
            <a:off x="6309360" y="1828800"/>
            <a:ext cx="5303520" cy="73152"/>
          </a:xfrm>
          <a:prstGeom prst="rect">
            <a:avLst/>
          </a:prstGeom>
          <a:solidFill>
            <a:srgbClr val="F27038"/>
          </a:solidFill>
          <a:ln w="12700">
            <a:solidFill>
              <a:srgbClr val="F27038"/>
            </a:solidFill>
            <a:prstDash val="solid"/>
          </a:ln>
        </p:spPr>
      </p:sp>
      <p:sp>
        <p:nvSpPr>
          <p:cNvPr id="13" name="Text 11"/>
          <p:cNvSpPr/>
          <p:nvPr/>
        </p:nvSpPr>
        <p:spPr>
          <a:xfrm>
            <a:off x="6583680" y="2011680"/>
            <a:ext cx="475488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WHAT WE PROPOSE</a:t>
            </a:r>
            <a:endParaRPr lang="en-US" sz="1100" dirty="0"/>
          </a:p>
        </p:txBody>
      </p:sp>
      <p:sp>
        <p:nvSpPr>
          <p:cNvPr id="14" name="Text 12"/>
          <p:cNvSpPr/>
          <p:nvPr/>
        </p:nvSpPr>
        <p:spPr>
          <a:xfrm>
            <a:off x="6583680" y="2331720"/>
            <a:ext cx="4754880" cy="73152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Qualified leads from search, by page, with pipeline value</a:t>
            </a:r>
            <a:endParaRPr lang="en-US" sz="2200" dirty="0"/>
          </a:p>
        </p:txBody>
      </p:sp>
      <p:sp>
        <p:nvSpPr>
          <p:cNvPr id="15" name="Text 13"/>
          <p:cNvSpPr/>
          <p:nvPr/>
        </p:nvSpPr>
        <p:spPr>
          <a:xfrm>
            <a:off x="6583680" y="3154680"/>
            <a:ext cx="4754880" cy="21945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E9EFF4"/>
                </a:solidFill>
                <a:latin typeface="Arial" pitchFamily="34" charset="0"/>
                <a:ea typeface="Arial" pitchFamily="34" charset="-122"/>
                <a:cs typeface="Arial" pitchFamily="34" charset="-120"/>
              </a:rPr>
              <a:t>Counted from your own analytics and CRM, not a third-party estimate.</a:t>
            </a:r>
            <a:endParaRPr lang="en-US" sz="1150" dirty="0"/>
          </a:p>
          <a:p>
            <a:pPr marL="342900" indent="-342900">
              <a:spcAft>
                <a:spcPts val="500"/>
              </a:spcAft>
              <a:buSzPct val="100000"/>
              <a:buChar char="•"/>
            </a:pPr>
            <a:r>
              <a:rPr lang="en-US" sz="1150" dirty="0">
                <a:solidFill>
                  <a:srgbClr val="E9EFF4"/>
                </a:solidFill>
                <a:latin typeface="Arial" pitchFamily="34" charset="0"/>
                <a:ea typeface="Arial" pitchFamily="34" charset="-122"/>
                <a:cs typeface="Arial" pitchFamily="34" charset="-120"/>
              </a:rPr>
              <a:t>Only leads that sales accepts count. A download is not a lead.</a:t>
            </a:r>
            <a:endParaRPr lang="en-US" sz="1150" dirty="0"/>
          </a:p>
          <a:p>
            <a:pPr marL="342900" indent="-342900">
              <a:spcAft>
                <a:spcPts val="500"/>
              </a:spcAft>
              <a:buSzPct val="100000"/>
              <a:buChar char="•"/>
            </a:pPr>
            <a:r>
              <a:rPr lang="en-US" sz="1150" dirty="0">
                <a:solidFill>
                  <a:srgbClr val="E9EFF4"/>
                </a:solidFill>
                <a:latin typeface="Arial" pitchFamily="34" charset="0"/>
                <a:ea typeface="Arial" pitchFamily="34" charset="-122"/>
                <a:cs typeface="Arial" pitchFamily="34" charset="-120"/>
              </a:rPr>
              <a:t>Reported by page, so we know which content pays and double down on it.</a:t>
            </a:r>
            <a:endParaRPr lang="en-US" sz="1150" dirty="0"/>
          </a:p>
          <a:p>
            <a:pPr marL="342900" indent="-342900">
              <a:spcAft>
                <a:spcPts val="500"/>
              </a:spcAft>
              <a:buSzPct val="100000"/>
              <a:buChar char="•"/>
            </a:pPr>
            <a:r>
              <a:rPr lang="en-US" sz="1150" dirty="0">
                <a:solidFill>
                  <a:srgbClr val="E9EFF4"/>
                </a:solidFill>
                <a:latin typeface="Arial" pitchFamily="34" charset="0"/>
                <a:ea typeface="Arial" pitchFamily="34" charset="-122"/>
                <a:cs typeface="Arial" pitchFamily="34" charset="-120"/>
              </a:rPr>
              <a:t>Traffic stays on the dashboard as a health check, split into branded and non-branded.</a:t>
            </a:r>
            <a:endParaRPr lang="en-US" sz="1150" dirty="0"/>
          </a:p>
        </p:txBody>
      </p:sp>
      <p:sp>
        <p:nvSpPr>
          <p:cNvPr id="16" name="Shape 14"/>
          <p:cNvSpPr/>
          <p:nvPr/>
        </p:nvSpPr>
        <p:spPr>
          <a:xfrm>
            <a:off x="548640" y="5623560"/>
            <a:ext cx="11064240" cy="566928"/>
          </a:xfrm>
          <a:prstGeom prst="rect">
            <a:avLst/>
          </a:prstGeom>
          <a:solidFill>
            <a:srgbClr val="E9EFF4"/>
          </a:solidFill>
          <a:ln w="12700">
            <a:solidFill>
              <a:srgbClr val="E9EFF4"/>
            </a:solidFill>
            <a:prstDash val="solid"/>
          </a:ln>
        </p:spPr>
      </p:sp>
      <p:sp>
        <p:nvSpPr>
          <p:cNvPr id="17" name="Shape 15"/>
          <p:cNvSpPr/>
          <p:nvPr/>
        </p:nvSpPr>
        <p:spPr>
          <a:xfrm>
            <a:off x="548640" y="5623560"/>
            <a:ext cx="82296" cy="566928"/>
          </a:xfrm>
          <a:prstGeom prst="rect">
            <a:avLst/>
          </a:prstGeom>
          <a:solidFill>
            <a:srgbClr val="F27038"/>
          </a:solidFill>
          <a:ln w="12700">
            <a:solidFill>
              <a:srgbClr val="F27038"/>
            </a:solidFill>
            <a:prstDash val="solid"/>
          </a:ln>
        </p:spPr>
      </p:sp>
      <p:sp>
        <p:nvSpPr>
          <p:cNvPr id="18" name="Text 16"/>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Our 12-month commitment is to roughly double qualified leads from search. Traffic will recover too, and we will say exactly how far on slide 12.</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THE PLAN</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Four moves, in this order. The first one starts in week one.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10</a:t>
            </a:r>
            <a:endParaRPr lang="en-US" sz="1000" dirty="0"/>
          </a:p>
        </p:txBody>
      </p:sp>
      <p:sp>
        <p:nvSpPr>
          <p:cNvPr id="7" name="Shape 5"/>
          <p:cNvSpPr/>
          <p:nvPr/>
        </p:nvSpPr>
        <p:spPr>
          <a:xfrm>
            <a:off x="548640" y="1828800"/>
            <a:ext cx="2651760" cy="2514600"/>
          </a:xfrm>
          <a:prstGeom prst="rect">
            <a:avLst/>
          </a:prstGeom>
          <a:solidFill>
            <a:srgbClr val="F8F8F8"/>
          </a:solidFill>
          <a:ln w="12700">
            <a:solidFill>
              <a:srgbClr val="E9EFF4"/>
            </a:solidFill>
            <a:prstDash val="solid"/>
          </a:ln>
        </p:spPr>
      </p:sp>
      <p:sp>
        <p:nvSpPr>
          <p:cNvPr id="8" name="Shape 6"/>
          <p:cNvSpPr/>
          <p:nvPr/>
        </p:nvSpPr>
        <p:spPr>
          <a:xfrm>
            <a:off x="548640" y="1828800"/>
            <a:ext cx="2651760" cy="73152"/>
          </a:xfrm>
          <a:prstGeom prst="rect">
            <a:avLst/>
          </a:prstGeom>
          <a:solidFill>
            <a:srgbClr val="F27038"/>
          </a:solidFill>
          <a:ln w="12700">
            <a:solidFill>
              <a:srgbClr val="F27038"/>
            </a:solidFill>
            <a:prstDash val="solid"/>
          </a:ln>
        </p:spPr>
      </p:sp>
      <p:sp>
        <p:nvSpPr>
          <p:cNvPr id="9" name="Text 7"/>
          <p:cNvSpPr/>
          <p:nvPr/>
        </p:nvSpPr>
        <p:spPr>
          <a:xfrm>
            <a:off x="749808" y="2011680"/>
            <a:ext cx="22494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1. Fix the pages that make money</a:t>
            </a:r>
            <a:endParaRPr lang="en-US" sz="1500" dirty="0"/>
          </a:p>
        </p:txBody>
      </p:sp>
      <p:sp>
        <p:nvSpPr>
          <p:cNvPr id="10" name="Text 8"/>
          <p:cNvSpPr/>
          <p:nvPr/>
        </p:nvSpPr>
        <p:spPr>
          <a:xfrm>
            <a:off x="749808" y="2606040"/>
            <a:ext cx="2249424" cy="16184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Rebuild the "vs Ramp" comparison with a proper side-by-side table and a clear next step. Bring the "vs Brex" page to the same standard. Point your strongest pages at them.</a:t>
            </a:r>
            <a:endParaRPr lang="en-US" sz="1150" dirty="0"/>
          </a:p>
        </p:txBody>
      </p:sp>
      <p:sp>
        <p:nvSpPr>
          <p:cNvPr id="11" name="Shape 9"/>
          <p:cNvSpPr/>
          <p:nvPr/>
        </p:nvSpPr>
        <p:spPr>
          <a:xfrm>
            <a:off x="3355848" y="1828800"/>
            <a:ext cx="2651760" cy="2514600"/>
          </a:xfrm>
          <a:prstGeom prst="rect">
            <a:avLst/>
          </a:prstGeom>
          <a:solidFill>
            <a:srgbClr val="F8F8F8"/>
          </a:solidFill>
          <a:ln w="12700">
            <a:solidFill>
              <a:srgbClr val="E9EFF4"/>
            </a:solidFill>
            <a:prstDash val="solid"/>
          </a:ln>
        </p:spPr>
      </p:sp>
      <p:sp>
        <p:nvSpPr>
          <p:cNvPr id="12" name="Shape 10"/>
          <p:cNvSpPr/>
          <p:nvPr/>
        </p:nvSpPr>
        <p:spPr>
          <a:xfrm>
            <a:off x="3355848" y="1828800"/>
            <a:ext cx="2651760" cy="73152"/>
          </a:xfrm>
          <a:prstGeom prst="rect">
            <a:avLst/>
          </a:prstGeom>
          <a:solidFill>
            <a:srgbClr val="2F343A"/>
          </a:solidFill>
          <a:ln w="12700">
            <a:solidFill>
              <a:srgbClr val="2F343A"/>
            </a:solidFill>
            <a:prstDash val="solid"/>
          </a:ln>
        </p:spPr>
      </p:sp>
      <p:sp>
        <p:nvSpPr>
          <p:cNvPr id="13" name="Text 11"/>
          <p:cNvSpPr/>
          <p:nvPr/>
        </p:nvSpPr>
        <p:spPr>
          <a:xfrm>
            <a:off x="3557016" y="2011680"/>
            <a:ext cx="22494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2. Refresh what is old</a:t>
            </a:r>
            <a:endParaRPr lang="en-US" sz="1500" dirty="0"/>
          </a:p>
        </p:txBody>
      </p:sp>
      <p:sp>
        <p:nvSpPr>
          <p:cNvPr id="14" name="Text 12"/>
          <p:cNvSpPr/>
          <p:nvPr/>
        </p:nvSpPr>
        <p:spPr>
          <a:xfrm>
            <a:off x="3557016" y="2606040"/>
            <a:ext cx="2249424" cy="16184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Rewrite the big guides for 2026 with the current rules and a short, quotable answer at the top so Google's AI answer can cite you. Then work through the rest of the 400 posts, oldest and most valuable first.</a:t>
            </a:r>
            <a:endParaRPr lang="en-US" sz="1150" dirty="0"/>
          </a:p>
        </p:txBody>
      </p:sp>
      <p:sp>
        <p:nvSpPr>
          <p:cNvPr id="15" name="Shape 13"/>
          <p:cNvSpPr/>
          <p:nvPr/>
        </p:nvSpPr>
        <p:spPr>
          <a:xfrm>
            <a:off x="6163056" y="1828800"/>
            <a:ext cx="2651760" cy="2514600"/>
          </a:xfrm>
          <a:prstGeom prst="rect">
            <a:avLst/>
          </a:prstGeom>
          <a:solidFill>
            <a:srgbClr val="F8F8F8"/>
          </a:solidFill>
          <a:ln w="12700">
            <a:solidFill>
              <a:srgbClr val="E9EFF4"/>
            </a:solidFill>
            <a:prstDash val="solid"/>
          </a:ln>
        </p:spPr>
      </p:sp>
      <p:sp>
        <p:nvSpPr>
          <p:cNvPr id="16" name="Shape 14"/>
          <p:cNvSpPr/>
          <p:nvPr/>
        </p:nvSpPr>
        <p:spPr>
          <a:xfrm>
            <a:off x="6163056" y="1828800"/>
            <a:ext cx="2651760" cy="73152"/>
          </a:xfrm>
          <a:prstGeom prst="rect">
            <a:avLst/>
          </a:prstGeom>
          <a:solidFill>
            <a:srgbClr val="2F343A"/>
          </a:solidFill>
          <a:ln w="12700">
            <a:solidFill>
              <a:srgbClr val="2F343A"/>
            </a:solidFill>
            <a:prstDash val="solid"/>
          </a:ln>
        </p:spPr>
      </p:sp>
      <p:sp>
        <p:nvSpPr>
          <p:cNvPr id="17" name="Text 15"/>
          <p:cNvSpPr/>
          <p:nvPr/>
        </p:nvSpPr>
        <p:spPr>
          <a:xfrm>
            <a:off x="6364224" y="2011680"/>
            <a:ext cx="22494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3. Retire what is dead</a:t>
            </a:r>
            <a:endParaRPr lang="en-US" sz="1500" dirty="0"/>
          </a:p>
        </p:txBody>
      </p:sp>
      <p:sp>
        <p:nvSpPr>
          <p:cNvPr id="18" name="Text 16"/>
          <p:cNvSpPr/>
          <p:nvPr/>
        </p:nvSpPr>
        <p:spPr>
          <a:xfrm>
            <a:off x="6364224" y="2606040"/>
            <a:ext cx="2249424" cy="16184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Redirect the two expired dated pages to permanent versions. Remove the off-topic pages. Merge the two pages competing for the same search into one.</a:t>
            </a:r>
            <a:endParaRPr lang="en-US" sz="1150" dirty="0"/>
          </a:p>
        </p:txBody>
      </p:sp>
      <p:sp>
        <p:nvSpPr>
          <p:cNvPr id="19" name="Shape 17"/>
          <p:cNvSpPr/>
          <p:nvPr/>
        </p:nvSpPr>
        <p:spPr>
          <a:xfrm>
            <a:off x="8970264" y="1828800"/>
            <a:ext cx="2651760" cy="2514600"/>
          </a:xfrm>
          <a:prstGeom prst="rect">
            <a:avLst/>
          </a:prstGeom>
          <a:solidFill>
            <a:srgbClr val="F8F8F8"/>
          </a:solidFill>
          <a:ln w="12700">
            <a:solidFill>
              <a:srgbClr val="E9EFF4"/>
            </a:solidFill>
            <a:prstDash val="solid"/>
          </a:ln>
        </p:spPr>
      </p:sp>
      <p:sp>
        <p:nvSpPr>
          <p:cNvPr id="20" name="Shape 18"/>
          <p:cNvSpPr/>
          <p:nvPr/>
        </p:nvSpPr>
        <p:spPr>
          <a:xfrm>
            <a:off x="8970264" y="1828800"/>
            <a:ext cx="2651760" cy="73152"/>
          </a:xfrm>
          <a:prstGeom prst="rect">
            <a:avLst/>
          </a:prstGeom>
          <a:solidFill>
            <a:srgbClr val="2F343A"/>
          </a:solidFill>
          <a:ln w="12700">
            <a:solidFill>
              <a:srgbClr val="2F343A"/>
            </a:solidFill>
            <a:prstDash val="solid"/>
          </a:ln>
        </p:spPr>
      </p:sp>
      <p:sp>
        <p:nvSpPr>
          <p:cNvPr id="21" name="Text 19"/>
          <p:cNvSpPr/>
          <p:nvPr/>
        </p:nvSpPr>
        <p:spPr>
          <a:xfrm>
            <a:off x="9171432" y="2011680"/>
            <a:ext cx="22494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4. Earn links to what sells</a:t>
            </a:r>
            <a:endParaRPr lang="en-US" sz="1500" dirty="0"/>
          </a:p>
        </p:txBody>
      </p:sp>
      <p:sp>
        <p:nvSpPr>
          <p:cNvPr id="22" name="Text 20"/>
          <p:cNvSpPr/>
          <p:nvPr/>
        </p:nvSpPr>
        <p:spPr>
          <a:xfrm>
            <a:off x="9171432" y="2606040"/>
            <a:ext cx="2249424" cy="16184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No paid links, no link networks. Editorial links from sites in your industry (finance, accounting, business software) pointing at the refreshed guides; one original data report a quarter; and assets people link to on their own: templates, calculators, a statistics page.</a:t>
            </a:r>
            <a:endParaRPr lang="en-US" sz="1150" dirty="0"/>
          </a:p>
        </p:txBody>
      </p:sp>
      <p:sp>
        <p:nvSpPr>
          <p:cNvPr id="23" name="Text 21"/>
          <p:cNvSpPr/>
          <p:nvPr/>
        </p:nvSpPr>
        <p:spPr>
          <a:xfrm>
            <a:off x="548640" y="4526280"/>
            <a:ext cx="11064240" cy="960120"/>
          </a:xfrm>
          <a:prstGeom prst="rect">
            <a:avLst/>
          </a:prstGeom>
          <a:noFill/>
          <a:ln/>
        </p:spPr>
        <p:txBody>
          <a:bodyPr wrap="square" lIns="0" tIns="0" rIns="0" bIns="0" rtlCol="0" anchor="t"/>
          <a:lstStyle/>
          <a:p>
            <a:pPr indent="0" marL="0">
              <a:buNone/>
            </a:pPr>
            <a:r>
              <a:rPr lang="en-US" sz="1300" b="1" dirty="0">
                <a:solidFill>
                  <a:srgbClr val="2F343A"/>
                </a:solidFill>
                <a:latin typeface="Arial" pitchFamily="34" charset="0"/>
                <a:ea typeface="Arial" pitchFamily="34" charset="-122"/>
                <a:cs typeface="Arial" pitchFamily="34" charset="-120"/>
              </a:rPr>
              <a:t>What ships in the first 30 days</a:t>
            </a:r>
            <a:endParaRPr lang="en-US" sz="1150" dirty="0"/>
          </a:p>
          <a:p>
            <a:pPr indent="0" marL="0">
              <a:buNone/>
            </a:pPr>
            <a:r>
              <a:rPr lang="en-US" sz="1150" dirty="0">
                <a:solidFill>
                  <a:srgbClr val="2C2F33"/>
                </a:solidFill>
                <a:latin typeface="Arial" pitchFamily="34" charset="0"/>
                <a:ea typeface="Arial" pitchFamily="34" charset="-122"/>
                <a:cs typeface="Arial" pitchFamily="34" charset="-120"/>
              </a:rPr>
              <a:t>The "vs Ramp" rebuild, the biggest guide refreshed, the two expired pages redirected, the two off-topic pages removed, the duplicate merged, and the measurement set up so every later change can be proven.</a:t>
            </a:r>
            <a:endParaRPr lang="en-US" sz="1150" dirty="0"/>
          </a:p>
        </p:txBody>
      </p:sp>
      <p:sp>
        <p:nvSpPr>
          <p:cNvPr id="24" name="Shape 22"/>
          <p:cNvSpPr/>
          <p:nvPr/>
        </p:nvSpPr>
        <p:spPr>
          <a:xfrm>
            <a:off x="548640" y="5623560"/>
            <a:ext cx="11064240" cy="566928"/>
          </a:xfrm>
          <a:prstGeom prst="rect">
            <a:avLst/>
          </a:prstGeom>
          <a:solidFill>
            <a:srgbClr val="E9EFF4"/>
          </a:solidFill>
          <a:ln w="12700">
            <a:solidFill>
              <a:srgbClr val="E9EFF4"/>
            </a:solidFill>
            <a:prstDash val="solid"/>
          </a:ln>
        </p:spPr>
      </p:sp>
      <p:sp>
        <p:nvSpPr>
          <p:cNvPr id="25" name="Shape 23"/>
          <p:cNvSpPr/>
          <p:nvPr/>
        </p:nvSpPr>
        <p:spPr>
          <a:xfrm>
            <a:off x="548640" y="5623560"/>
            <a:ext cx="82296" cy="566928"/>
          </a:xfrm>
          <a:prstGeom prst="rect">
            <a:avLst/>
          </a:prstGeom>
          <a:solidFill>
            <a:srgbClr val="F27038"/>
          </a:solidFill>
          <a:ln w="12700">
            <a:solidFill>
              <a:srgbClr val="F27038"/>
            </a:solidFill>
            <a:prstDash val="solid"/>
          </a:ln>
        </p:spPr>
      </p:sp>
      <p:sp>
        <p:nvSpPr>
          <p:cNvPr id="26" name="Text 24"/>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Every one of the 400 posts gets one of four decisions: protect, refresh, merge or retire. About half get work; all of them get a decision.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AN ALTERNATIVE FOR PRODUCING THE CONTENT</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Option B: draft in your voice with AI, check every piece with an editor, and spend the saving on links.</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11</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Costs are assumptions, marked as such in the budget sheet. Testable in Q2 against the same holdout.</a:t>
            </a:r>
            <a:endParaRPr lang="en-US" sz="850" dirty="0"/>
          </a:p>
        </p:txBody>
      </p:sp>
      <p:sp>
        <p:nvSpPr>
          <p:cNvPr id="8" name="Shape 6"/>
          <p:cNvSpPr/>
          <p:nvPr/>
        </p:nvSpPr>
        <p:spPr>
          <a:xfrm>
            <a:off x="548640" y="1828800"/>
            <a:ext cx="5394960" cy="2194560"/>
          </a:xfrm>
          <a:prstGeom prst="rect">
            <a:avLst/>
          </a:prstGeom>
          <a:solidFill>
            <a:srgbClr val="F8F8F8"/>
          </a:solidFill>
          <a:ln w="12700">
            <a:solidFill>
              <a:srgbClr val="E9EFF4"/>
            </a:solidFill>
            <a:prstDash val="solid"/>
          </a:ln>
        </p:spPr>
      </p:sp>
      <p:sp>
        <p:nvSpPr>
          <p:cNvPr id="9" name="Shape 7"/>
          <p:cNvSpPr/>
          <p:nvPr/>
        </p:nvSpPr>
        <p:spPr>
          <a:xfrm>
            <a:off x="548640" y="1828800"/>
            <a:ext cx="5394960" cy="73152"/>
          </a:xfrm>
          <a:prstGeom prst="rect">
            <a:avLst/>
          </a:prstGeom>
          <a:solidFill>
            <a:srgbClr val="2F343A"/>
          </a:solidFill>
          <a:ln w="12700">
            <a:solidFill>
              <a:srgbClr val="2F343A"/>
            </a:solidFill>
            <a:prstDash val="solid"/>
          </a:ln>
        </p:spPr>
      </p:sp>
      <p:sp>
        <p:nvSpPr>
          <p:cNvPr id="10" name="Text 8"/>
          <p:cNvSpPr/>
          <p:nvPr/>
        </p:nvSpPr>
        <p:spPr>
          <a:xfrm>
            <a:off x="749808" y="2011680"/>
            <a:ext cx="49926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Option A: three freelance writers</a:t>
            </a:r>
            <a:endParaRPr lang="en-US" sz="1500" dirty="0"/>
          </a:p>
        </p:txBody>
      </p:sp>
      <p:sp>
        <p:nvSpPr>
          <p:cNvPr id="11" name="Text 9"/>
          <p:cNvSpPr/>
          <p:nvPr/>
        </p:nvSpPr>
        <p:spPr>
          <a:xfrm>
            <a:off x="749808" y="2606040"/>
            <a:ext cx="4992624" cy="129844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4 new posts and 8 refreshes a month, written by freelancers from briefs. About $2,800 a month. Known quantity, slower, and every writer brings their own voice.</a:t>
            </a:r>
            <a:endParaRPr lang="en-US" sz="1150" dirty="0"/>
          </a:p>
        </p:txBody>
      </p:sp>
      <p:sp>
        <p:nvSpPr>
          <p:cNvPr id="12" name="Shape 10"/>
          <p:cNvSpPr/>
          <p:nvPr/>
        </p:nvSpPr>
        <p:spPr>
          <a:xfrm>
            <a:off x="6217920" y="1828800"/>
            <a:ext cx="5394960" cy="2194560"/>
          </a:xfrm>
          <a:prstGeom prst="rect">
            <a:avLst/>
          </a:prstGeom>
          <a:solidFill>
            <a:srgbClr val="F8F8F8"/>
          </a:solidFill>
          <a:ln w="12700">
            <a:solidFill>
              <a:srgbClr val="E9EFF4"/>
            </a:solidFill>
            <a:prstDash val="solid"/>
          </a:ln>
        </p:spPr>
      </p:sp>
      <p:sp>
        <p:nvSpPr>
          <p:cNvPr id="13" name="Shape 11"/>
          <p:cNvSpPr/>
          <p:nvPr/>
        </p:nvSpPr>
        <p:spPr>
          <a:xfrm>
            <a:off x="6217920" y="1828800"/>
            <a:ext cx="5394960" cy="73152"/>
          </a:xfrm>
          <a:prstGeom prst="rect">
            <a:avLst/>
          </a:prstGeom>
          <a:solidFill>
            <a:srgbClr val="F27038"/>
          </a:solidFill>
          <a:ln w="12700">
            <a:solidFill>
              <a:srgbClr val="F27038"/>
            </a:solidFill>
            <a:prstDash val="solid"/>
          </a:ln>
        </p:spPr>
      </p:sp>
      <p:sp>
        <p:nvSpPr>
          <p:cNvPr id="14" name="Text 12"/>
          <p:cNvSpPr/>
          <p:nvPr/>
        </p:nvSpPr>
        <p:spPr>
          <a:xfrm>
            <a:off x="6419088" y="2011680"/>
            <a:ext cx="49926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Option B: your voice, drafted faster, edited by a person</a:t>
            </a:r>
            <a:endParaRPr lang="en-US" sz="1500" dirty="0"/>
          </a:p>
        </p:txBody>
      </p:sp>
      <p:sp>
        <p:nvSpPr>
          <p:cNvPr id="15" name="Text 13"/>
          <p:cNvSpPr/>
          <p:nvPr/>
        </p:nvSpPr>
        <p:spPr>
          <a:xfrm>
            <a:off x="6419088" y="2606040"/>
            <a:ext cx="4992624" cy="129844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We interview your Content Manager and two subject experts on tone, style and how you talk to customers, and build a dedicated writing setup from that. It drafts from the same briefs. A freelance editor checks facts, sources, voice and the call to action on every piece before anything publishes. About $1,200 a month plus a one-off $1,500 setup.</a:t>
            </a:r>
            <a:endParaRPr lang="en-US" sz="1150" dirty="0"/>
          </a:p>
        </p:txBody>
      </p:sp>
      <p:sp>
        <p:nvSpPr>
          <p:cNvPr id="16" name="Shape 14"/>
          <p:cNvSpPr/>
          <p:nvPr/>
        </p:nvSpPr>
        <p:spPr>
          <a:xfrm>
            <a:off x="548640" y="4206240"/>
            <a:ext cx="3566160" cy="1234440"/>
          </a:xfrm>
          <a:prstGeom prst="rect">
            <a:avLst/>
          </a:prstGeom>
          <a:solidFill>
            <a:srgbClr val="F8F8F8"/>
          </a:solidFill>
          <a:ln w="12700">
            <a:solidFill>
              <a:srgbClr val="E9EFF4"/>
            </a:solidFill>
            <a:prstDash val="solid"/>
          </a:ln>
        </p:spPr>
      </p:sp>
      <p:sp>
        <p:nvSpPr>
          <p:cNvPr id="17" name="Text 15"/>
          <p:cNvSpPr/>
          <p:nvPr/>
        </p:nvSpPr>
        <p:spPr>
          <a:xfrm>
            <a:off x="731520" y="4315968"/>
            <a:ext cx="3200400" cy="61722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$1,600</a:t>
            </a:r>
            <a:endParaRPr lang="en-US" sz="3000" dirty="0"/>
          </a:p>
        </p:txBody>
      </p:sp>
      <p:sp>
        <p:nvSpPr>
          <p:cNvPr id="18" name="Text 16"/>
          <p:cNvSpPr/>
          <p:nvPr/>
        </p:nvSpPr>
        <p:spPr>
          <a:xfrm>
            <a:off x="731520" y="4885182"/>
            <a:ext cx="3200400" cy="493776"/>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a month moves from writing to earning links</a:t>
            </a:r>
            <a:endParaRPr lang="en-US" sz="1150" dirty="0"/>
          </a:p>
        </p:txBody>
      </p:sp>
      <p:sp>
        <p:nvSpPr>
          <p:cNvPr id="19" name="Shape 17"/>
          <p:cNvSpPr/>
          <p:nvPr/>
        </p:nvSpPr>
        <p:spPr>
          <a:xfrm>
            <a:off x="4297680" y="4206240"/>
            <a:ext cx="3566160" cy="1234440"/>
          </a:xfrm>
          <a:prstGeom prst="rect">
            <a:avLst/>
          </a:prstGeom>
          <a:solidFill>
            <a:srgbClr val="F8F8F8"/>
          </a:solidFill>
          <a:ln w="12700">
            <a:solidFill>
              <a:srgbClr val="E9EFF4"/>
            </a:solidFill>
            <a:prstDash val="solid"/>
          </a:ln>
        </p:spPr>
      </p:sp>
      <p:sp>
        <p:nvSpPr>
          <p:cNvPr id="20" name="Text 18"/>
          <p:cNvSpPr/>
          <p:nvPr/>
        </p:nvSpPr>
        <p:spPr>
          <a:xfrm>
            <a:off x="4480560" y="4315968"/>
            <a:ext cx="3200400" cy="61722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12 to 20</a:t>
            </a:r>
            <a:endParaRPr lang="en-US" sz="3000" dirty="0"/>
          </a:p>
        </p:txBody>
      </p:sp>
      <p:sp>
        <p:nvSpPr>
          <p:cNvPr id="21" name="Text 19"/>
          <p:cNvSpPr/>
          <p:nvPr/>
        </p:nvSpPr>
        <p:spPr>
          <a:xfrm>
            <a:off x="4480560" y="4885182"/>
            <a:ext cx="3200400" cy="493776"/>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relevant link placements a month instead of 6 to 10</a:t>
            </a:r>
            <a:endParaRPr lang="en-US" sz="1150" dirty="0"/>
          </a:p>
        </p:txBody>
      </p:sp>
      <p:sp>
        <p:nvSpPr>
          <p:cNvPr id="22" name="Shape 20"/>
          <p:cNvSpPr/>
          <p:nvPr/>
        </p:nvSpPr>
        <p:spPr>
          <a:xfrm>
            <a:off x="8046720" y="4206240"/>
            <a:ext cx="3566160" cy="1234440"/>
          </a:xfrm>
          <a:prstGeom prst="rect">
            <a:avLst/>
          </a:prstGeom>
          <a:solidFill>
            <a:srgbClr val="2F343A"/>
          </a:solidFill>
          <a:ln w="12700">
            <a:solidFill>
              <a:srgbClr val="2F343A"/>
            </a:solidFill>
            <a:prstDash val="solid"/>
          </a:ln>
        </p:spPr>
      </p:sp>
      <p:sp>
        <p:nvSpPr>
          <p:cNvPr id="23" name="Text 21"/>
          <p:cNvSpPr/>
          <p:nvPr/>
        </p:nvSpPr>
        <p:spPr>
          <a:xfrm>
            <a:off x="8229600" y="4315968"/>
            <a:ext cx="3200400" cy="6172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Q2 test</a:t>
            </a:r>
            <a:endParaRPr lang="en-US" sz="3000" dirty="0"/>
          </a:p>
        </p:txBody>
      </p:sp>
      <p:sp>
        <p:nvSpPr>
          <p:cNvPr id="24" name="Text 22"/>
          <p:cNvSpPr/>
          <p:nvPr/>
        </p:nvSpPr>
        <p:spPr>
          <a:xfrm>
            <a:off x="8229600" y="4885182"/>
            <a:ext cx="3200400" cy="493776"/>
          </a:xfrm>
          <a:prstGeom prst="rect">
            <a:avLst/>
          </a:prstGeom>
          <a:noFill/>
          <a:ln/>
        </p:spPr>
        <p:txBody>
          <a:bodyPr wrap="square" lIns="0" tIns="0" rIns="0" bIns="0" rtlCol="0" anchor="t"/>
          <a:lstStyle/>
          <a:p>
            <a:pPr indent="0" marL="0">
              <a:buNone/>
            </a:pPr>
            <a:r>
              <a:rPr lang="en-US" sz="1150" dirty="0">
                <a:solidFill>
                  <a:srgbClr val="E9EFF4"/>
                </a:solidFill>
                <a:latin typeface="Arial" pitchFamily="34" charset="0"/>
                <a:ea typeface="Arial" pitchFamily="34" charset="-122"/>
                <a:cs typeface="Arial" pitchFamily="34" charset="-120"/>
              </a:rPr>
              <a:t>half the refreshes each way, measured against the holdout</a:t>
            </a:r>
            <a:endParaRPr lang="en-US" sz="1150" dirty="0"/>
          </a:p>
        </p:txBody>
      </p:sp>
      <p:sp>
        <p:nvSpPr>
          <p:cNvPr id="25" name="Shape 23"/>
          <p:cNvSpPr/>
          <p:nvPr/>
        </p:nvSpPr>
        <p:spPr>
          <a:xfrm>
            <a:off x="548640" y="5623560"/>
            <a:ext cx="11064240" cy="566928"/>
          </a:xfrm>
          <a:prstGeom prst="rect">
            <a:avLst/>
          </a:prstGeom>
          <a:solidFill>
            <a:srgbClr val="E9EFF4"/>
          </a:solidFill>
          <a:ln w="12700">
            <a:solidFill>
              <a:srgbClr val="E9EFF4"/>
            </a:solidFill>
            <a:prstDash val="solid"/>
          </a:ln>
        </p:spPr>
      </p:sp>
      <p:sp>
        <p:nvSpPr>
          <p:cNvPr id="26" name="Shape 24"/>
          <p:cNvSpPr/>
          <p:nvPr/>
        </p:nvSpPr>
        <p:spPr>
          <a:xfrm>
            <a:off x="548640" y="5623560"/>
            <a:ext cx="82296" cy="566928"/>
          </a:xfrm>
          <a:prstGeom prst="rect">
            <a:avLst/>
          </a:prstGeom>
          <a:solidFill>
            <a:srgbClr val="F27038"/>
          </a:solidFill>
          <a:ln w="12700">
            <a:solidFill>
              <a:srgbClr val="F27038"/>
            </a:solidFill>
            <a:prstDash val="solid"/>
          </a:ln>
        </p:spPr>
      </p:sp>
      <p:sp>
        <p:nvSpPr>
          <p:cNvPr id="27" name="Text 25"/>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Nothing publishes without a person signing it off. The saving is real only if the edited pages perform as well as the written ones, so we test before we switch.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THE COMPETITION</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We will not out-publish Ramp. We win where they do not play.</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12</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Source: Ramp's publishing pace from your brief; linking sites gained per month from a public backlink index, 12 months to September 2026</a:t>
            </a:r>
            <a:endParaRPr lang="en-US" sz="850" dirty="0"/>
          </a:p>
        </p:txBody>
      </p:sp>
      <p:sp>
        <p:nvSpPr>
          <p:cNvPr id="8" name="Shape 6"/>
          <p:cNvSpPr/>
          <p:nvPr/>
        </p:nvSpPr>
        <p:spPr>
          <a:xfrm>
            <a:off x="548640" y="1828800"/>
            <a:ext cx="3566160" cy="1188720"/>
          </a:xfrm>
          <a:prstGeom prst="rect">
            <a:avLst/>
          </a:prstGeom>
          <a:solidFill>
            <a:srgbClr val="F8F8F8"/>
          </a:solidFill>
          <a:ln w="12700">
            <a:solidFill>
              <a:srgbClr val="E9EFF4"/>
            </a:solidFill>
            <a:prstDash val="solid"/>
          </a:ln>
        </p:spPr>
      </p:sp>
      <p:sp>
        <p:nvSpPr>
          <p:cNvPr id="9" name="Text 7"/>
          <p:cNvSpPr/>
          <p:nvPr/>
        </p:nvSpPr>
        <p:spPr>
          <a:xfrm>
            <a:off x="731520" y="1938528"/>
            <a:ext cx="3200400" cy="59436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100 vs 48</a:t>
            </a:r>
            <a:endParaRPr lang="en-US" sz="3000" dirty="0"/>
          </a:p>
        </p:txBody>
      </p:sp>
      <p:sp>
        <p:nvSpPr>
          <p:cNvPr id="10" name="Text 8"/>
          <p:cNvSpPr/>
          <p:nvPr/>
        </p:nvSpPr>
        <p:spPr>
          <a:xfrm>
            <a:off x="731520" y="2482596"/>
            <a:ext cx="3200400" cy="4754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posts a year: Ramp's pace against yours</a:t>
            </a:r>
            <a:endParaRPr lang="en-US" sz="1150" dirty="0"/>
          </a:p>
        </p:txBody>
      </p:sp>
      <p:sp>
        <p:nvSpPr>
          <p:cNvPr id="11" name="Shape 9"/>
          <p:cNvSpPr/>
          <p:nvPr/>
        </p:nvSpPr>
        <p:spPr>
          <a:xfrm>
            <a:off x="4297680" y="1828800"/>
            <a:ext cx="3566160" cy="1188720"/>
          </a:xfrm>
          <a:prstGeom prst="rect">
            <a:avLst/>
          </a:prstGeom>
          <a:solidFill>
            <a:srgbClr val="F8F8F8"/>
          </a:solidFill>
          <a:ln w="12700">
            <a:solidFill>
              <a:srgbClr val="E9EFF4"/>
            </a:solidFill>
            <a:prstDash val="solid"/>
          </a:ln>
        </p:spPr>
      </p:sp>
      <p:sp>
        <p:nvSpPr>
          <p:cNvPr id="12" name="Text 10"/>
          <p:cNvSpPr/>
          <p:nvPr/>
        </p:nvSpPr>
        <p:spPr>
          <a:xfrm>
            <a:off x="4480560" y="1938528"/>
            <a:ext cx="3200400" cy="594360"/>
          </a:xfrm>
          <a:prstGeom prst="rect">
            <a:avLst/>
          </a:prstGeom>
          <a:noFill/>
          <a:ln/>
        </p:spPr>
        <p:txBody>
          <a:bodyPr wrap="square" lIns="0" tIns="0" rIns="0" bIns="0" rtlCol="0" anchor="ctr"/>
          <a:lstStyle/>
          <a:p>
            <a:pPr indent="0" marL="0">
              <a:buNone/>
            </a:pPr>
            <a:r>
              <a:rPr lang="en-US" sz="3000" b="1" dirty="0">
                <a:solidFill>
                  <a:srgbClr val="F27038"/>
                </a:solidFill>
                <a:latin typeface="Arial" pitchFamily="34" charset="0"/>
                <a:ea typeface="Arial" pitchFamily="34" charset="-122"/>
                <a:cs typeface="Arial" pitchFamily="34" charset="-120"/>
              </a:rPr>
              <a:t>340</a:t>
            </a:r>
            <a:endParaRPr lang="en-US" sz="3000" dirty="0"/>
          </a:p>
        </p:txBody>
      </p:sp>
      <p:sp>
        <p:nvSpPr>
          <p:cNvPr id="13" name="Text 11"/>
          <p:cNvSpPr/>
          <p:nvPr/>
        </p:nvSpPr>
        <p:spPr>
          <a:xfrm>
            <a:off x="4480560" y="2482596"/>
            <a:ext cx="3200400" cy="4754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new websites linking to Ramp every month</a:t>
            </a:r>
            <a:endParaRPr lang="en-US" sz="1150" dirty="0"/>
          </a:p>
        </p:txBody>
      </p:sp>
      <p:sp>
        <p:nvSpPr>
          <p:cNvPr id="14" name="Shape 12"/>
          <p:cNvSpPr/>
          <p:nvPr/>
        </p:nvSpPr>
        <p:spPr>
          <a:xfrm>
            <a:off x="8046720" y="1828800"/>
            <a:ext cx="3566160" cy="1188720"/>
          </a:xfrm>
          <a:prstGeom prst="rect">
            <a:avLst/>
          </a:prstGeom>
          <a:solidFill>
            <a:srgbClr val="2F343A"/>
          </a:solidFill>
          <a:ln w="12700">
            <a:solidFill>
              <a:srgbClr val="2F343A"/>
            </a:solidFill>
            <a:prstDash val="solid"/>
          </a:ln>
        </p:spPr>
      </p:sp>
      <p:sp>
        <p:nvSpPr>
          <p:cNvPr id="15" name="Text 13"/>
          <p:cNvSpPr/>
          <p:nvPr/>
        </p:nvSpPr>
        <p:spPr>
          <a:xfrm>
            <a:off x="8229600" y="1938528"/>
            <a:ext cx="3200400" cy="5943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5x</a:t>
            </a:r>
            <a:endParaRPr lang="en-US" sz="3000" dirty="0"/>
          </a:p>
        </p:txBody>
      </p:sp>
      <p:sp>
        <p:nvSpPr>
          <p:cNvPr id="16" name="Text 14"/>
          <p:cNvSpPr/>
          <p:nvPr/>
        </p:nvSpPr>
        <p:spPr>
          <a:xfrm>
            <a:off x="8229600" y="2482596"/>
            <a:ext cx="3200400" cy="475488"/>
          </a:xfrm>
          <a:prstGeom prst="rect">
            <a:avLst/>
          </a:prstGeom>
          <a:noFill/>
          <a:ln/>
        </p:spPr>
        <p:txBody>
          <a:bodyPr wrap="square" lIns="0" tIns="0" rIns="0" bIns="0" rtlCol="0" anchor="t"/>
          <a:lstStyle/>
          <a:p>
            <a:pPr indent="0" marL="0">
              <a:buNone/>
            </a:pPr>
            <a:r>
              <a:rPr lang="en-US" sz="1150" dirty="0">
                <a:solidFill>
                  <a:srgbClr val="E9EFF4"/>
                </a:solidFill>
                <a:latin typeface="Arial" pitchFamily="34" charset="0"/>
                <a:ea typeface="Arial" pitchFamily="34" charset="-122"/>
                <a:cs typeface="Arial" pitchFamily="34" charset="-120"/>
              </a:rPr>
              <a:t>your traffic. Ramp is a much bigger site</a:t>
            </a:r>
            <a:endParaRPr lang="en-US" sz="1150" dirty="0"/>
          </a:p>
        </p:txBody>
      </p:sp>
      <p:sp>
        <p:nvSpPr>
          <p:cNvPr id="17" name="Shape 15"/>
          <p:cNvSpPr/>
          <p:nvPr/>
        </p:nvSpPr>
        <p:spPr>
          <a:xfrm>
            <a:off x="548640" y="3200400"/>
            <a:ext cx="3566160" cy="2286000"/>
          </a:xfrm>
          <a:prstGeom prst="rect">
            <a:avLst/>
          </a:prstGeom>
          <a:solidFill>
            <a:srgbClr val="F8F8F8"/>
          </a:solidFill>
          <a:ln w="12700">
            <a:solidFill>
              <a:srgbClr val="E9EFF4"/>
            </a:solidFill>
            <a:prstDash val="solid"/>
          </a:ln>
        </p:spPr>
      </p:sp>
      <p:sp>
        <p:nvSpPr>
          <p:cNvPr id="18" name="Shape 16"/>
          <p:cNvSpPr/>
          <p:nvPr/>
        </p:nvSpPr>
        <p:spPr>
          <a:xfrm>
            <a:off x="548640" y="3200400"/>
            <a:ext cx="3566160" cy="73152"/>
          </a:xfrm>
          <a:prstGeom prst="rect">
            <a:avLst/>
          </a:prstGeom>
          <a:solidFill>
            <a:srgbClr val="F27038"/>
          </a:solidFill>
          <a:ln w="12700">
            <a:solidFill>
              <a:srgbClr val="F27038"/>
            </a:solidFill>
            <a:prstDash val="solid"/>
          </a:ln>
        </p:spPr>
      </p:sp>
      <p:sp>
        <p:nvSpPr>
          <p:cNvPr id="19" name="Text 17"/>
          <p:cNvSpPr/>
          <p:nvPr/>
        </p:nvSpPr>
        <p:spPr>
          <a:xfrm>
            <a:off x="749808" y="3383280"/>
            <a:ext cx="31638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Fight</a:t>
            </a:r>
            <a:endParaRPr lang="en-US" sz="1500" dirty="0"/>
          </a:p>
        </p:txBody>
      </p:sp>
      <p:sp>
        <p:nvSpPr>
          <p:cNvPr id="20" name="Text 18"/>
          <p:cNvSpPr/>
          <p:nvPr/>
        </p:nvSpPr>
        <p:spPr>
          <a:xfrm>
            <a:off x="749808" y="3977640"/>
            <a:ext cx="3163824" cy="13898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Comparison and alternatives pages (your highest-value traffic). The corporate card decision guide. The core expense management guides, on depth and freshness.</a:t>
            </a:r>
            <a:endParaRPr lang="en-US" sz="1150" dirty="0"/>
          </a:p>
        </p:txBody>
      </p:sp>
      <p:sp>
        <p:nvSpPr>
          <p:cNvPr id="21" name="Shape 19"/>
          <p:cNvSpPr/>
          <p:nvPr/>
        </p:nvSpPr>
        <p:spPr>
          <a:xfrm>
            <a:off x="4297680" y="3200400"/>
            <a:ext cx="3566160" cy="2286000"/>
          </a:xfrm>
          <a:prstGeom prst="rect">
            <a:avLst/>
          </a:prstGeom>
          <a:solidFill>
            <a:srgbClr val="F8F8F8"/>
          </a:solidFill>
          <a:ln w="12700">
            <a:solidFill>
              <a:srgbClr val="E9EFF4"/>
            </a:solidFill>
            <a:prstDash val="solid"/>
          </a:ln>
        </p:spPr>
      </p:sp>
      <p:sp>
        <p:nvSpPr>
          <p:cNvPr id="22" name="Shape 20"/>
          <p:cNvSpPr/>
          <p:nvPr/>
        </p:nvSpPr>
        <p:spPr>
          <a:xfrm>
            <a:off x="4297680" y="3200400"/>
            <a:ext cx="3566160" cy="73152"/>
          </a:xfrm>
          <a:prstGeom prst="rect">
            <a:avLst/>
          </a:prstGeom>
          <a:solidFill>
            <a:srgbClr val="EFB438"/>
          </a:solidFill>
          <a:ln w="12700">
            <a:solidFill>
              <a:srgbClr val="EFB438"/>
            </a:solidFill>
            <a:prstDash val="solid"/>
          </a:ln>
        </p:spPr>
      </p:sp>
      <p:sp>
        <p:nvSpPr>
          <p:cNvPr id="23" name="Text 21"/>
          <p:cNvSpPr/>
          <p:nvPr/>
        </p:nvSpPr>
        <p:spPr>
          <a:xfrm>
            <a:off x="4498848" y="3383280"/>
            <a:ext cx="31638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Flank</a:t>
            </a:r>
            <a:endParaRPr lang="en-US" sz="1500" dirty="0"/>
          </a:p>
        </p:txBody>
      </p:sp>
      <p:sp>
        <p:nvSpPr>
          <p:cNvPr id="24" name="Text 22"/>
          <p:cNvSpPr/>
          <p:nvPr/>
        </p:nvSpPr>
        <p:spPr>
          <a:xfrm>
            <a:off x="4498848" y="3977640"/>
            <a:ext cx="3163824" cy="13898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Templates and tools: policy templates, category sheets, a mileage calculator. Original data from your spend data. The spend management topic, where you are already growing.</a:t>
            </a:r>
            <a:endParaRPr lang="en-US" sz="1150" dirty="0"/>
          </a:p>
        </p:txBody>
      </p:sp>
      <p:sp>
        <p:nvSpPr>
          <p:cNvPr id="25" name="Shape 23"/>
          <p:cNvSpPr/>
          <p:nvPr/>
        </p:nvSpPr>
        <p:spPr>
          <a:xfrm>
            <a:off x="8046720" y="3200400"/>
            <a:ext cx="3566160" cy="2286000"/>
          </a:xfrm>
          <a:prstGeom prst="rect">
            <a:avLst/>
          </a:prstGeom>
          <a:solidFill>
            <a:srgbClr val="F8F8F8"/>
          </a:solidFill>
          <a:ln w="12700">
            <a:solidFill>
              <a:srgbClr val="E9EFF4"/>
            </a:solidFill>
            <a:prstDash val="solid"/>
          </a:ln>
        </p:spPr>
      </p:sp>
      <p:sp>
        <p:nvSpPr>
          <p:cNvPr id="26" name="Shape 24"/>
          <p:cNvSpPr/>
          <p:nvPr/>
        </p:nvSpPr>
        <p:spPr>
          <a:xfrm>
            <a:off x="8046720" y="3200400"/>
            <a:ext cx="3566160" cy="73152"/>
          </a:xfrm>
          <a:prstGeom prst="rect">
            <a:avLst/>
          </a:prstGeom>
          <a:solidFill>
            <a:srgbClr val="929194"/>
          </a:solidFill>
          <a:ln w="12700">
            <a:solidFill>
              <a:srgbClr val="929194"/>
            </a:solidFill>
            <a:prstDash val="solid"/>
          </a:ln>
        </p:spPr>
      </p:sp>
      <p:sp>
        <p:nvSpPr>
          <p:cNvPr id="27" name="Text 25"/>
          <p:cNvSpPr/>
          <p:nvPr/>
        </p:nvSpPr>
        <p:spPr>
          <a:xfrm>
            <a:off x="8247888" y="3383280"/>
            <a:ext cx="31638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Concede</a:t>
            </a:r>
            <a:endParaRPr lang="en-US" sz="1500" dirty="0"/>
          </a:p>
        </p:txBody>
      </p:sp>
      <p:sp>
        <p:nvSpPr>
          <p:cNvPr id="28" name="Text 26"/>
          <p:cNvSpPr/>
          <p:nvPr/>
        </p:nvSpPr>
        <p:spPr>
          <a:xfrm>
            <a:off x="8247888" y="3977640"/>
            <a:ext cx="3163824" cy="1389888"/>
          </a:xfrm>
          <a:prstGeom prst="rect">
            <a:avLst/>
          </a:prstGeom>
          <a:noFill/>
          <a:ln/>
        </p:spPr>
        <p:txBody>
          <a:bodyPr wrap="square" lIns="0" tIns="0" rIns="0" bIns="0" rtlCol="0" anchor="t"/>
          <a:lstStyle/>
          <a:p>
            <a:pPr indent="0" marL="0">
              <a:buNone/>
            </a:pPr>
            <a:r>
              <a:rPr lang="en-US" sz="1150" dirty="0">
                <a:solidFill>
                  <a:srgbClr val="2C2F33"/>
                </a:solidFill>
                <a:latin typeface="Arial" pitchFamily="34" charset="0"/>
                <a:ea typeface="Arial" pitchFamily="34" charset="-122"/>
                <a:cs typeface="Arial" pitchFamily="34" charset="-120"/>
              </a:rPr>
              <a:t>Generic finance education (invoicing, bookkeeping, accounting software lists). Per diem and tax deadline rate pages that government sites own. Consumer searches like receipt scanning apps.</a:t>
            </a:r>
            <a:endParaRPr lang="en-US" sz="1150" dirty="0"/>
          </a:p>
        </p:txBody>
      </p:sp>
      <p:sp>
        <p:nvSpPr>
          <p:cNvPr id="29" name="Shape 27"/>
          <p:cNvSpPr/>
          <p:nvPr/>
        </p:nvSpPr>
        <p:spPr>
          <a:xfrm>
            <a:off x="548640" y="5623560"/>
            <a:ext cx="11064240" cy="566928"/>
          </a:xfrm>
          <a:prstGeom prst="rect">
            <a:avLst/>
          </a:prstGeom>
          <a:solidFill>
            <a:srgbClr val="E9EFF4"/>
          </a:solidFill>
          <a:ln w="12700">
            <a:solidFill>
              <a:srgbClr val="E9EFF4"/>
            </a:solidFill>
            <a:prstDash val="solid"/>
          </a:ln>
        </p:spPr>
      </p:sp>
      <p:sp>
        <p:nvSpPr>
          <p:cNvPr id="30" name="Shape 28"/>
          <p:cNvSpPr/>
          <p:nvPr/>
        </p:nvSpPr>
        <p:spPr>
          <a:xfrm>
            <a:off x="548640" y="5623560"/>
            <a:ext cx="82296" cy="566928"/>
          </a:xfrm>
          <a:prstGeom prst="rect">
            <a:avLst/>
          </a:prstGeom>
          <a:solidFill>
            <a:srgbClr val="F27038"/>
          </a:solidFill>
          <a:ln w="12700">
            <a:solidFill>
              <a:srgbClr val="F27038"/>
            </a:solidFill>
            <a:prstDash val="solid"/>
          </a:ln>
        </p:spPr>
      </p:sp>
      <p:sp>
        <p:nvSpPr>
          <p:cNvPr id="31" name="Text 29"/>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Ramp is a volume publisher. Volume is the one game we cannot win on this budget, so we do not enter 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WHAT TO EXPECT</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By month 12: leads roughly double in the base case, and traffic lands between about 100K and 135K. 140K sits above our stretch case.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13</a:t>
            </a:r>
            <a:endParaRPr lang="en-US" sz="1000" dirty="0"/>
          </a:p>
        </p:txBody>
      </p:sp>
      <p:sp>
        <p:nvSpPr>
          <p:cNvPr id="7" name="Text 5"/>
          <p:cNvSpPr/>
          <p:nvPr/>
        </p:nvSpPr>
        <p:spPr>
          <a:xfrm>
            <a:off x="2743200" y="6355080"/>
            <a:ext cx="8138160" cy="365760"/>
          </a:xfrm>
          <a:prstGeom prst="rect">
            <a:avLst/>
          </a:prstGeom>
          <a:noFill/>
          <a:ln/>
        </p:spPr>
        <p:txBody>
          <a:bodyPr wrap="square" lIns="0" tIns="0" rIns="0" bIns="0" rtlCol="0" anchor="ctr"/>
          <a:lstStyle/>
          <a:p>
            <a:pPr algn="r" indent="0" marL="0">
              <a:buNone/>
            </a:pPr>
            <a:r>
              <a:rPr lang="en-US" sz="850" dirty="0">
                <a:solidFill>
                  <a:srgbClr val="929194"/>
                </a:solidFill>
                <a:latin typeface="Arial" pitchFamily="34" charset="0"/>
                <a:ea typeface="Arial" pitchFamily="34" charset="-122"/>
                <a:cs typeface="Arial" pitchFamily="34" charset="-120"/>
              </a:rPr>
              <a:t>Three scenarios, not a forecast. The base case assumes the top-page sample's mix holds for the whole site; week-one Search Console data replaces that assumption.</a:t>
            </a:r>
            <a:endParaRPr lang="en-US" sz="850" dirty="0"/>
          </a:p>
        </p:txBody>
      </p:sp>
      <p:graphicFrame>
        <p:nvGraphicFramePr>
          <p:cNvPr id="8" name="Chart 0" descr=""/>
          <p:cNvGraphicFramePr/>
          <p:nvPr/>
        </p:nvGraphicFramePr>
        <p:xfrm>
          <a:off x="548640" y="1828800"/>
          <a:ext cx="54864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6217920" y="1828800"/>
          <a:ext cx="5394960" cy="32004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548640" y="5074920"/>
            <a:ext cx="11064240" cy="548640"/>
          </a:xfrm>
          <a:prstGeom prst="rect">
            <a:avLst/>
          </a:prstGeom>
          <a:noFill/>
          <a:ln/>
        </p:spPr>
        <p:txBody>
          <a:bodyPr wrap="square" lIns="0" tIns="0" rIns="0" bIns="0" rtlCol="0" anchor="t"/>
          <a:lstStyle/>
          <a:p>
            <a:pPr indent="0" marL="0">
              <a:buNone/>
            </a:pPr>
            <a:r>
              <a:rPr lang="en-US" sz="1100" dirty="0">
                <a:solidFill>
                  <a:srgbClr val="6C757D"/>
                </a:solidFill>
                <a:latin typeface="Arial" pitchFamily="34" charset="0"/>
                <a:ea typeface="Arial" pitchFamily="34" charset="-122"/>
                <a:cs typeface="Arial" pitchFamily="34" charset="-120"/>
              </a:rPr>
              <a:t>Month 12, base case: about 117,000 visits and 2.2x leads. Low: 101,000 and 1.5x. Stretch: 136,000 and 3x. Why even the stretch case stays under 140K: your biggest searches now have an AI answer on top, and the two expired pages were queries that government sites now own. Growth beyond the base case comes from new comparison pages and templates, not from the old pages returning to their old numbers.</a:t>
            </a:r>
            <a:endParaRPr lang="en-US" sz="1100" dirty="0"/>
          </a:p>
        </p:txBody>
      </p:sp>
      <p:sp>
        <p:nvSpPr>
          <p:cNvPr id="11" name="Shape 7"/>
          <p:cNvSpPr/>
          <p:nvPr/>
        </p:nvSpPr>
        <p:spPr>
          <a:xfrm>
            <a:off x="548640" y="5715000"/>
            <a:ext cx="11064240" cy="502920"/>
          </a:xfrm>
          <a:prstGeom prst="rect">
            <a:avLst/>
          </a:prstGeom>
          <a:solidFill>
            <a:srgbClr val="E9EFF4"/>
          </a:solidFill>
          <a:ln w="12700">
            <a:solidFill>
              <a:srgbClr val="E9EFF4"/>
            </a:solidFill>
            <a:prstDash val="solid"/>
          </a:ln>
        </p:spPr>
      </p:sp>
      <p:sp>
        <p:nvSpPr>
          <p:cNvPr id="12" name="Shape 8"/>
          <p:cNvSpPr/>
          <p:nvPr/>
        </p:nvSpPr>
        <p:spPr>
          <a:xfrm>
            <a:off x="548640" y="5715000"/>
            <a:ext cx="82296" cy="502920"/>
          </a:xfrm>
          <a:prstGeom prst="rect">
            <a:avLst/>
          </a:prstGeom>
          <a:solidFill>
            <a:srgbClr val="F27038"/>
          </a:solidFill>
          <a:ln w="12700">
            <a:solidFill>
              <a:srgbClr val="F27038"/>
            </a:solidFill>
            <a:prstDash val="solid"/>
          </a:ln>
        </p:spPr>
      </p:sp>
      <p:sp>
        <p:nvSpPr>
          <p:cNvPr id="13" name="Text 9"/>
          <p:cNvSpPr/>
          <p:nvPr/>
        </p:nvSpPr>
        <p:spPr>
          <a:xfrm>
            <a:off x="777240" y="5715000"/>
            <a:ext cx="10698480" cy="502920"/>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The traffic line recovers in every case. The leads line is the one we are accountable for, and it moves faster because the first fixes land on the pages that convert.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THE FIRST 90 DAYS</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You will see the first signals within 90 days, and we have agreed in advance what we do if they do not move.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108960"/>
                <a:gridCol w="3566160"/>
                <a:gridCol w="4389120"/>
              </a:tblGrid>
              <a:tr h="566928">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we watch</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F343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Target by day 90</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F343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If it does not move</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F343A"/>
                    </a:solidFill>
                  </a:tcPr>
                </a:tc>
              </a:tr>
              <a:tr h="566928">
                <a:tc>
                  <a:txBody>
                    <a:bodyPr/>
                    <a:lstStyle/>
                    <a:p>
                      <a:pPr indent="0" marL="0">
                        <a:buNone/>
                      </a:pPr>
                      <a:r>
                        <a:rPr lang="en-US" sz="1100" dirty="0">
                          <a:solidFill>
                            <a:srgbClr val="2C2F33"/>
                          </a:solidFill>
                          <a:latin typeface="Arial" pitchFamily="34" charset="0"/>
                          <a:ea typeface="Arial" pitchFamily="34" charset="-122"/>
                          <a:cs typeface="Arial" pitchFamily="34" charset="-120"/>
                        </a:rPr>
                        <a:t>Rankings for your four most important searches</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"vs Ramp" back in the top 8; the two big guides up 2 places</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The problem is page format and authority. We shift budget from rewriting to the data report and change the page format.</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C2F33"/>
                          </a:solidFill>
                          <a:latin typeface="Arial" pitchFamily="34" charset="0"/>
                          <a:ea typeface="Arial" pitchFamily="34" charset="-122"/>
                          <a:cs typeface="Arial" pitchFamily="34" charset="-120"/>
                        </a:rPr>
                        <a:t>Refreshed pages against a matched set we leave alone</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Refreshed pages get 20% more impressions than the untouched set</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We stop at 24 refreshes and go back to the data before spending more.</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C2F33"/>
                          </a:solidFill>
                          <a:latin typeface="Arial" pitchFamily="34" charset="0"/>
                          <a:ea typeface="Arial" pitchFamily="34" charset="-122"/>
                          <a:cs typeface="Arial" pitchFamily="34" charset="-120"/>
                        </a:rPr>
                        <a:t>Leads from the comparison pages</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Lead rate up 25% on the rebuilt pages</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The offer, not the page, is the problem. We hand it to product marketing.</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C2F33"/>
                          </a:solidFill>
                          <a:latin typeface="Arial" pitchFamily="34" charset="0"/>
                          <a:ea typeface="Arial" pitchFamily="34" charset="-122"/>
                          <a:cs typeface="Arial" pitchFamily="34" charset="-120"/>
                        </a:rPr>
                        <a:t>Clean-up done</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Expired pages redirected, duplicate merged, off-topic pages removed</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This one is simply done or not done.</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C2F33"/>
                          </a:solidFill>
                          <a:latin typeface="Arial" pitchFamily="34" charset="0"/>
                          <a:ea typeface="Arial" pitchFamily="34" charset="-122"/>
                          <a:cs typeface="Arial" pitchFamily="34" charset="-120"/>
                        </a:rPr>
                        <a:t>Page speed on the blog</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Blog loads under 2.5 seconds in testing</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2C2F33"/>
                          </a:solidFill>
                          <a:latin typeface="Arial" pitchFamily="34" charset="0"/>
                          <a:ea typeface="Arial" pitchFamily="34" charset="-122"/>
                          <a:cs typeface="Arial" pitchFamily="34" charset="-120"/>
                        </a:rPr>
                        <a:t>We escalate to the next engineering sprint rather than spending the first one twice.</a:t>
                      </a:r>
                      <a:endParaRPr lang="en-US" sz="1100" dirty="0">
                        <a:latin typeface="Arial" charset="0"/>
                        <a:ea typeface="Arial" charset="0"/>
                        <a:cs typeface="Arial" charset="0"/>
                      </a:endParaRPr>
                    </a:p>
                  </a:txBody>
                  <a:tcPr marL="73152" marR="73152" marT="73152" marB="7315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623560"/>
            <a:ext cx="11064240" cy="566928"/>
          </a:xfrm>
          <a:prstGeom prst="rect">
            <a:avLst/>
          </a:prstGeom>
          <a:solidFill>
            <a:srgbClr val="E9EFF4"/>
          </a:solidFill>
          <a:ln w="12700">
            <a:solidFill>
              <a:srgbClr val="E9EFF4"/>
            </a:solidFill>
            <a:prstDash val="solid"/>
          </a:ln>
        </p:spPr>
      </p:sp>
      <p:sp>
        <p:nvSpPr>
          <p:cNvPr id="9" name="Shape 6"/>
          <p:cNvSpPr/>
          <p:nvPr/>
        </p:nvSpPr>
        <p:spPr>
          <a:xfrm>
            <a:off x="548640" y="5623560"/>
            <a:ext cx="82296" cy="566928"/>
          </a:xfrm>
          <a:prstGeom prst="rect">
            <a:avLst/>
          </a:prstGeom>
          <a:solidFill>
            <a:srgbClr val="F27038"/>
          </a:solidFill>
          <a:ln w="12700">
            <a:solidFill>
              <a:srgbClr val="F27038"/>
            </a:solidFill>
            <a:prstDash val="solid"/>
          </a:ln>
        </p:spPr>
      </p:sp>
      <p:sp>
        <p:nvSpPr>
          <p:cNvPr id="10" name="Text 7"/>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No waiting a year to find out. Each signal has a number attached and a pre-agreed response.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27038"/>
          </a:solidFill>
          <a:ln w="12700">
            <a:solidFill>
              <a:srgbClr val="F27038"/>
            </a:solidFill>
            <a:prstDash val="solid"/>
          </a:ln>
        </p:spPr>
      </p:sp>
      <p:sp>
        <p:nvSpPr>
          <p:cNvPr id="3" name="Text 1"/>
          <p:cNvSpPr/>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F27038"/>
                </a:solidFill>
                <a:latin typeface="Arial" pitchFamily="34" charset="0"/>
                <a:ea typeface="Arial" pitchFamily="34" charset="-122"/>
                <a:cs typeface="Arial" pitchFamily="34" charset="-120"/>
              </a:rPr>
              <a:t>WHAT WE NEED FROM YOU</a:t>
            </a:r>
            <a:endParaRPr lang="en-US" sz="1100" dirty="0"/>
          </a:p>
        </p:txBody>
      </p:sp>
      <p:sp>
        <p:nvSpPr>
          <p:cNvPr id="4" name="Text 2"/>
          <p:cNvSpPr/>
          <p:nvPr/>
        </p:nvSpPr>
        <p:spPr>
          <a:xfrm>
            <a:off x="548640" y="640080"/>
            <a:ext cx="11064240" cy="1005840"/>
          </a:xfrm>
          <a:prstGeom prst="rect">
            <a:avLst/>
          </a:prstGeom>
          <a:noFill/>
          <a:ln/>
        </p:spPr>
        <p:txBody>
          <a:bodyPr wrap="square" lIns="0" tIns="0" rIns="0" bIns="0" rtlCol="0" anchor="t"/>
          <a:lstStyle/>
          <a:p>
            <a:pPr indent="0" marL="0">
              <a:buNone/>
            </a:pPr>
            <a:r>
              <a:rPr lang="en-US" sz="2600" b="1" dirty="0">
                <a:solidFill>
                  <a:srgbClr val="2F343A"/>
                </a:solidFill>
                <a:latin typeface="Arial" pitchFamily="34" charset="0"/>
                <a:ea typeface="Arial" pitchFamily="34" charset="-122"/>
                <a:cs typeface="Arial" pitchFamily="34" charset="-120"/>
              </a:rPr>
              <a:t>Three decisions and five pieces of data, all in week one.</a:t>
            </a:r>
            <a:endParaRPr lang="en-US" sz="2600" dirty="0"/>
          </a:p>
        </p:txBody>
      </p:sp>
      <p:sp>
        <p:nvSpPr>
          <p:cNvPr id="5" name="Text 3"/>
          <p:cNvSpPr/>
          <p:nvPr/>
        </p:nvSpPr>
        <p:spPr>
          <a:xfrm>
            <a:off x="548640" y="6355080"/>
            <a:ext cx="2011680" cy="365760"/>
          </a:xfrm>
          <a:prstGeom prst="rect">
            <a:avLst/>
          </a:prstGeom>
          <a:noFill/>
          <a:ln/>
        </p:spPr>
        <p:txBody>
          <a:bodyPr wrap="square" lIns="0" tIns="0" rIns="0" bIns="0" rtlCol="0" anchor="ctr"/>
          <a:lstStyle/>
          <a:p>
            <a:pPr indent="0" marL="0">
              <a:buNone/>
            </a:pPr>
            <a:r>
              <a:rPr lang="en-US" sz="1100" b="1" dirty="0">
                <a:solidFill>
                  <a:srgbClr val="2F343A"/>
                </a:solidFill>
                <a:latin typeface="Arial" pitchFamily="34" charset="0"/>
                <a:ea typeface="Arial" pitchFamily="34" charset="-122"/>
                <a:cs typeface="Arial" pitchFamily="34" charset="-120"/>
              </a:rPr>
              <a:t>Single</a:t>
            </a:r>
            <a:pPr indent="0" marL="0">
              <a:buNone/>
            </a:pPr>
            <a:r>
              <a:rPr lang="en-US" sz="1100" b="1" dirty="0">
                <a:solidFill>
                  <a:srgbClr val="F27038"/>
                </a:solidFill>
                <a:latin typeface="Arial" pitchFamily="34" charset="0"/>
                <a:ea typeface="Arial" pitchFamily="34" charset="-122"/>
                <a:cs typeface="Arial" pitchFamily="34" charset="-120"/>
              </a:rPr>
              <a:t>Grain</a:t>
            </a:r>
            <a:endParaRPr lang="en-US" sz="1100" dirty="0"/>
          </a:p>
        </p:txBody>
      </p:sp>
      <p:sp>
        <p:nvSpPr>
          <p:cNvPr id="6" name="Text 4"/>
          <p:cNvSpPr/>
          <p:nvPr/>
        </p:nvSpPr>
        <p:spPr>
          <a:xfrm>
            <a:off x="11094415" y="6355080"/>
            <a:ext cx="548640" cy="365760"/>
          </a:xfrm>
          <a:prstGeom prst="rect">
            <a:avLst/>
          </a:prstGeom>
          <a:noFill/>
          <a:ln/>
        </p:spPr>
        <p:txBody>
          <a:bodyPr wrap="square" lIns="0" tIns="0" rIns="0" bIns="0" rtlCol="0" anchor="ctr"/>
          <a:lstStyle/>
          <a:p>
            <a:pPr algn="r" indent="0" marL="0">
              <a:buNone/>
            </a:pPr>
            <a:r>
              <a:rPr lang="en-US" sz="1000" dirty="0">
                <a:solidFill>
                  <a:srgbClr val="929194"/>
                </a:solidFill>
                <a:latin typeface="Arial" pitchFamily="34" charset="0"/>
                <a:ea typeface="Arial" pitchFamily="34" charset="-122"/>
                <a:cs typeface="Arial" pitchFamily="34" charset="-120"/>
              </a:rPr>
              <a:t>15</a:t>
            </a:r>
            <a:endParaRPr lang="en-US" sz="1000" dirty="0"/>
          </a:p>
        </p:txBody>
      </p:sp>
      <p:sp>
        <p:nvSpPr>
          <p:cNvPr id="7" name="Shape 5"/>
          <p:cNvSpPr/>
          <p:nvPr/>
        </p:nvSpPr>
        <p:spPr>
          <a:xfrm>
            <a:off x="548640" y="1828800"/>
            <a:ext cx="5394960" cy="3611880"/>
          </a:xfrm>
          <a:prstGeom prst="rect">
            <a:avLst/>
          </a:prstGeom>
          <a:solidFill>
            <a:srgbClr val="F8F8F8"/>
          </a:solidFill>
          <a:ln w="12700">
            <a:solidFill>
              <a:srgbClr val="E9EFF4"/>
            </a:solidFill>
            <a:prstDash val="solid"/>
          </a:ln>
        </p:spPr>
      </p:sp>
      <p:sp>
        <p:nvSpPr>
          <p:cNvPr id="8" name="Shape 6"/>
          <p:cNvSpPr/>
          <p:nvPr/>
        </p:nvSpPr>
        <p:spPr>
          <a:xfrm>
            <a:off x="548640" y="1828800"/>
            <a:ext cx="5394960" cy="73152"/>
          </a:xfrm>
          <a:prstGeom prst="rect">
            <a:avLst/>
          </a:prstGeom>
          <a:solidFill>
            <a:srgbClr val="F27038"/>
          </a:solidFill>
          <a:ln w="12700">
            <a:solidFill>
              <a:srgbClr val="F27038"/>
            </a:solidFill>
            <a:prstDash val="solid"/>
          </a:ln>
        </p:spPr>
      </p:sp>
      <p:sp>
        <p:nvSpPr>
          <p:cNvPr id="9" name="Text 7"/>
          <p:cNvSpPr/>
          <p:nvPr/>
        </p:nvSpPr>
        <p:spPr>
          <a:xfrm>
            <a:off x="749808" y="2011680"/>
            <a:ext cx="49926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Decisions</a:t>
            </a:r>
            <a:endParaRPr lang="en-US" sz="1500" dirty="0"/>
          </a:p>
        </p:txBody>
      </p:sp>
      <p:sp>
        <p:nvSpPr>
          <p:cNvPr id="10" name="Text 8"/>
          <p:cNvSpPr/>
          <p:nvPr/>
        </p:nvSpPr>
        <p:spPr>
          <a:xfrm>
            <a:off x="749808" y="2606040"/>
            <a:ext cx="4992624" cy="2715768"/>
          </a:xfrm>
          <a:prstGeom prst="rect">
            <a:avLst/>
          </a:prstGeom>
          <a:noFill/>
          <a:ln/>
        </p:spPr>
        <p:txBody>
          <a:bodyPr wrap="square" lIns="0" tIns="0" rIns="0" bIns="0" rtlCol="0" anchor="t"/>
          <a:lstStyle/>
          <a:p>
            <a:pPr indent="0" marL="0">
              <a:buNone/>
            </a:pPr>
            <a:endParaRPr lang="en-US" sz="1150" dirty="0"/>
          </a:p>
        </p:txBody>
      </p:sp>
      <p:sp>
        <p:nvSpPr>
          <p:cNvPr id="11" name="Text 9"/>
          <p:cNvSpPr/>
          <p:nvPr/>
        </p:nvSpPr>
        <p:spPr>
          <a:xfrm>
            <a:off x="777240" y="2514600"/>
            <a:ext cx="4937760" cy="27432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Sign off on the KPI: qualified leads from search, by page.</a:t>
            </a:r>
            <a:endParaRPr lang="en-US" sz="1250" dirty="0"/>
          </a:p>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Agree in writing what counts as a lead. A demo request yes, a template download no.</a:t>
            </a:r>
            <a:endParaRPr lang="en-US" sz="1250" dirty="0"/>
          </a:p>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Legal sign-off to publish anonymized, aggregated spend data as a research report.</a:t>
            </a:r>
            <a:endParaRPr lang="en-US" sz="1250" dirty="0"/>
          </a:p>
        </p:txBody>
      </p:sp>
      <p:sp>
        <p:nvSpPr>
          <p:cNvPr id="12" name="Shape 10"/>
          <p:cNvSpPr/>
          <p:nvPr/>
        </p:nvSpPr>
        <p:spPr>
          <a:xfrm>
            <a:off x="6217920" y="1828800"/>
            <a:ext cx="5394960" cy="3611880"/>
          </a:xfrm>
          <a:prstGeom prst="rect">
            <a:avLst/>
          </a:prstGeom>
          <a:solidFill>
            <a:srgbClr val="F8F8F8"/>
          </a:solidFill>
          <a:ln w="12700">
            <a:solidFill>
              <a:srgbClr val="E9EFF4"/>
            </a:solidFill>
            <a:prstDash val="solid"/>
          </a:ln>
        </p:spPr>
      </p:sp>
      <p:sp>
        <p:nvSpPr>
          <p:cNvPr id="13" name="Shape 11"/>
          <p:cNvSpPr/>
          <p:nvPr/>
        </p:nvSpPr>
        <p:spPr>
          <a:xfrm>
            <a:off x="6217920" y="1828800"/>
            <a:ext cx="5394960" cy="73152"/>
          </a:xfrm>
          <a:prstGeom prst="rect">
            <a:avLst/>
          </a:prstGeom>
          <a:solidFill>
            <a:srgbClr val="2F343A"/>
          </a:solidFill>
          <a:ln w="12700">
            <a:solidFill>
              <a:srgbClr val="2F343A"/>
            </a:solidFill>
            <a:prstDash val="solid"/>
          </a:ln>
        </p:spPr>
      </p:sp>
      <p:sp>
        <p:nvSpPr>
          <p:cNvPr id="14" name="Text 12"/>
          <p:cNvSpPr/>
          <p:nvPr/>
        </p:nvSpPr>
        <p:spPr>
          <a:xfrm>
            <a:off x="6419088" y="2011680"/>
            <a:ext cx="4992624" cy="457200"/>
          </a:xfrm>
          <a:prstGeom prst="rect">
            <a:avLst/>
          </a:prstGeom>
          <a:noFill/>
          <a:ln/>
        </p:spPr>
        <p:txBody>
          <a:bodyPr wrap="square" lIns="0" tIns="0" rIns="0" bIns="0" rtlCol="0" anchor="t"/>
          <a:lstStyle/>
          <a:p>
            <a:pPr indent="0" marL="0">
              <a:buNone/>
            </a:pPr>
            <a:r>
              <a:rPr lang="en-US" sz="1500" b="1" dirty="0">
                <a:solidFill>
                  <a:srgbClr val="2F343A"/>
                </a:solidFill>
                <a:latin typeface="Arial" pitchFamily="34" charset="0"/>
                <a:ea typeface="Arial" pitchFamily="34" charset="-122"/>
                <a:cs typeface="Arial" pitchFamily="34" charset="-120"/>
              </a:rPr>
              <a:t>Data</a:t>
            </a:r>
            <a:endParaRPr lang="en-US" sz="1500" dirty="0"/>
          </a:p>
        </p:txBody>
      </p:sp>
      <p:sp>
        <p:nvSpPr>
          <p:cNvPr id="15" name="Text 13"/>
          <p:cNvSpPr/>
          <p:nvPr/>
        </p:nvSpPr>
        <p:spPr>
          <a:xfrm>
            <a:off x="6419088" y="2606040"/>
            <a:ext cx="4992624" cy="2715768"/>
          </a:xfrm>
          <a:prstGeom prst="rect">
            <a:avLst/>
          </a:prstGeom>
          <a:noFill/>
          <a:ln/>
        </p:spPr>
        <p:txBody>
          <a:bodyPr wrap="square" lIns="0" tIns="0" rIns="0" bIns="0" rtlCol="0" anchor="t"/>
          <a:lstStyle/>
          <a:p>
            <a:pPr indent="0" marL="0">
              <a:buNone/>
            </a:pPr>
            <a:endParaRPr lang="en-US" sz="1150" dirty="0"/>
          </a:p>
        </p:txBody>
      </p:sp>
      <p:sp>
        <p:nvSpPr>
          <p:cNvPr id="16" name="Text 14"/>
          <p:cNvSpPr/>
          <p:nvPr/>
        </p:nvSpPr>
        <p:spPr>
          <a:xfrm>
            <a:off x="6446520" y="2514600"/>
            <a:ext cx="4937760" cy="27432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Search Console access, full history (16 months).</a:t>
            </a:r>
            <a:endParaRPr lang="en-US" sz="1250" dirty="0"/>
          </a:p>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Analytics: visits and leads by landing page, this year and last.</a:t>
            </a:r>
            <a:endParaRPr lang="en-US" sz="1250" dirty="0"/>
          </a:p>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CRM: which leads became opportunities, by landing page.</a:t>
            </a:r>
            <a:endParaRPr lang="en-US" sz="1250" dirty="0"/>
          </a:p>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The last-modified date for every blog post from WordPress.</a:t>
            </a:r>
            <a:endParaRPr lang="en-US" sz="1250" dirty="0"/>
          </a:p>
          <a:p>
            <a:pPr marL="342900" indent="-342900">
              <a:spcAft>
                <a:spcPts val="800"/>
              </a:spcAft>
              <a:buSzPct val="100000"/>
              <a:buFont typeface="+mj-lt"/>
              <a:buAutoNum type="arabicPeriod" startAt="1"/>
            </a:pPr>
            <a:r>
              <a:rPr lang="en-US" sz="1250" dirty="0">
                <a:solidFill>
                  <a:srgbClr val="2C2F33"/>
                </a:solidFill>
                <a:latin typeface="Arial" pitchFamily="34" charset="0"/>
                <a:ea typeface="Arial" pitchFamily="34" charset="-122"/>
                <a:cs typeface="Arial" pitchFamily="34" charset="-120"/>
              </a:rPr>
              <a:t>One engineering sprint per quarter, confirmed in the calendar.</a:t>
            </a:r>
            <a:endParaRPr lang="en-US" sz="1250" dirty="0"/>
          </a:p>
        </p:txBody>
      </p:sp>
      <p:sp>
        <p:nvSpPr>
          <p:cNvPr id="17" name="Shape 15"/>
          <p:cNvSpPr/>
          <p:nvPr/>
        </p:nvSpPr>
        <p:spPr>
          <a:xfrm>
            <a:off x="548640" y="5623560"/>
            <a:ext cx="11064240" cy="566928"/>
          </a:xfrm>
          <a:prstGeom prst="rect">
            <a:avLst/>
          </a:prstGeom>
          <a:solidFill>
            <a:srgbClr val="E9EFF4"/>
          </a:solidFill>
          <a:ln w="12700">
            <a:solidFill>
              <a:srgbClr val="E9EFF4"/>
            </a:solidFill>
            <a:prstDash val="solid"/>
          </a:ln>
        </p:spPr>
      </p:sp>
      <p:sp>
        <p:nvSpPr>
          <p:cNvPr id="18" name="Shape 16"/>
          <p:cNvSpPr/>
          <p:nvPr/>
        </p:nvSpPr>
        <p:spPr>
          <a:xfrm>
            <a:off x="548640" y="5623560"/>
            <a:ext cx="82296" cy="566928"/>
          </a:xfrm>
          <a:prstGeom prst="rect">
            <a:avLst/>
          </a:prstGeom>
          <a:solidFill>
            <a:srgbClr val="F27038"/>
          </a:solidFill>
          <a:ln w="12700">
            <a:solidFill>
              <a:srgbClr val="F27038"/>
            </a:solidFill>
            <a:prstDash val="solid"/>
          </a:ln>
        </p:spPr>
      </p:sp>
      <p:sp>
        <p:nvSpPr>
          <p:cNvPr id="19" name="Text 17"/>
          <p:cNvSpPr/>
          <p:nvPr/>
        </p:nvSpPr>
        <p:spPr>
          <a:xfrm>
            <a:off x="777240" y="5623560"/>
            <a:ext cx="10698480" cy="566928"/>
          </a:xfrm>
          <a:prstGeom prst="rect">
            <a:avLst/>
          </a:prstGeom>
          <a:noFill/>
          <a:ln/>
        </p:spPr>
        <p:txBody>
          <a:bodyPr wrap="square" lIns="0" tIns="0" rIns="0" bIns="0" rtlCol="0" anchor="ctr"/>
          <a:lstStyle/>
          <a:p>
            <a:pPr indent="0" marL="0">
              <a:buNone/>
            </a:pPr>
            <a:r>
              <a:rPr lang="en-US" sz="1300" dirty="0">
                <a:solidFill>
                  <a:srgbClr val="2C2F33"/>
                </a:solidFill>
                <a:latin typeface="Arial" pitchFamily="34" charset="0"/>
                <a:ea typeface="Arial" pitchFamily="34" charset="-122"/>
                <a:cs typeface="Arial" pitchFamily="34" charset="-120"/>
              </a:rPr>
              <a:t>With these in hand, the first fixes go live inside 30 days and the baseline is real, not estimated.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020"/>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27038"/>
          </a:solidFill>
          <a:ln w="12700">
            <a:solidFill>
              <a:srgbClr val="F27038"/>
            </a:solidFill>
            <a:prstDash val="solid"/>
          </a:ln>
        </p:spPr>
      </p:sp>
      <p:sp>
        <p:nvSpPr>
          <p:cNvPr id="3" name="Text 1"/>
          <p:cNvSpPr/>
          <p:nvPr/>
        </p:nvSpPr>
        <p:spPr>
          <a:xfrm>
            <a:off x="822960" y="548640"/>
            <a:ext cx="201168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Single</a:t>
            </a:r>
            <a:pPr indent="0" marL="0">
              <a:buNone/>
            </a:pPr>
            <a:r>
              <a:rPr lang="en-US" sz="2000" b="1" dirty="0">
                <a:solidFill>
                  <a:srgbClr val="F27038"/>
                </a:solidFill>
                <a:latin typeface="Arial" pitchFamily="34" charset="0"/>
                <a:ea typeface="Arial" pitchFamily="34" charset="-122"/>
                <a:cs typeface="Arial" pitchFamily="34" charset="-120"/>
              </a:rPr>
              <a:t>Grain</a:t>
            </a:r>
            <a:endParaRPr lang="en-US" sz="2000" dirty="0"/>
          </a:p>
        </p:txBody>
      </p:sp>
      <p:sp>
        <p:nvSpPr>
          <p:cNvPr id="4" name="Text 2"/>
          <p:cNvSpPr/>
          <p:nvPr/>
        </p:nvSpPr>
        <p:spPr>
          <a:xfrm>
            <a:off x="822960" y="164592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Next steps</a:t>
            </a:r>
            <a:endParaRPr lang="en-US" sz="3400" dirty="0"/>
          </a:p>
        </p:txBody>
      </p:sp>
      <p:sp>
        <p:nvSpPr>
          <p:cNvPr id="5" name="Text 3"/>
          <p:cNvSpPr/>
          <p:nvPr/>
        </p:nvSpPr>
        <p:spPr>
          <a:xfrm>
            <a:off x="822960" y="2560320"/>
            <a:ext cx="1024128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9EFF4"/>
                </a:solidFill>
                <a:latin typeface="Arial" pitchFamily="34" charset="0"/>
                <a:ea typeface="Arial" pitchFamily="34" charset="-122"/>
                <a:cs typeface="Arial" pitchFamily="34" charset="-120"/>
              </a:rPr>
              <a:t>This week: a 45-minute working session to agree the KPI and the lead definition.</a:t>
            </a:r>
            <a:endParaRPr lang="en-US" sz="1600" dirty="0"/>
          </a:p>
          <a:p>
            <a:pPr marL="342900" indent="-342900">
              <a:spcAft>
                <a:spcPts val="1000"/>
              </a:spcAft>
              <a:buSzPct val="100000"/>
              <a:buChar char="•"/>
            </a:pPr>
            <a:r>
              <a:rPr lang="en-US" sz="1600" dirty="0">
                <a:solidFill>
                  <a:srgbClr val="E9EFF4"/>
                </a:solidFill>
                <a:latin typeface="Arial" pitchFamily="34" charset="0"/>
                <a:ea typeface="Arial" pitchFamily="34" charset="-122"/>
                <a:cs typeface="Arial" pitchFamily="34" charset="-120"/>
              </a:rPr>
              <a:t>Week one: data access and the link check. You get a one-page diagnosis note.</a:t>
            </a:r>
            <a:endParaRPr lang="en-US" sz="1600" dirty="0"/>
          </a:p>
          <a:p>
            <a:pPr marL="342900" indent="-342900">
              <a:spcAft>
                <a:spcPts val="1000"/>
              </a:spcAft>
              <a:buSzPct val="100000"/>
              <a:buChar char="•"/>
            </a:pPr>
            <a:r>
              <a:rPr lang="en-US" sz="1600" dirty="0">
                <a:solidFill>
                  <a:srgbClr val="E9EFF4"/>
                </a:solidFill>
                <a:latin typeface="Arial" pitchFamily="34" charset="0"/>
                <a:ea typeface="Arial" pitchFamily="34" charset="-122"/>
                <a:cs typeface="Arial" pitchFamily="34" charset="-120"/>
              </a:rPr>
              <a:t>Day 30: the first seven fixes live and the measurement in place.</a:t>
            </a:r>
            <a:endParaRPr lang="en-US" sz="1600" dirty="0"/>
          </a:p>
          <a:p>
            <a:pPr marL="342900" indent="-342900">
              <a:spcAft>
                <a:spcPts val="1000"/>
              </a:spcAft>
              <a:buSzPct val="100000"/>
              <a:buChar char="•"/>
            </a:pPr>
            <a:r>
              <a:rPr lang="en-US" sz="1600" dirty="0">
                <a:solidFill>
                  <a:srgbClr val="E9EFF4"/>
                </a:solidFill>
                <a:latin typeface="Arial" pitchFamily="34" charset="0"/>
                <a:ea typeface="Arial" pitchFamily="34" charset="-122"/>
                <a:cs typeface="Arial" pitchFamily="34" charset="-120"/>
              </a:rPr>
              <a:t>Day 90: the five signals reviewed together, and the decision to continue, adjust or re-diagnose.</a:t>
            </a:r>
            <a:endParaRPr lang="en-US" sz="1600" dirty="0"/>
          </a:p>
        </p:txBody>
      </p:sp>
      <p:sp>
        <p:nvSpPr>
          <p:cNvPr id="6" name="Shape 4"/>
          <p:cNvSpPr/>
          <p:nvPr/>
        </p:nvSpPr>
        <p:spPr>
          <a:xfrm>
            <a:off x="822960" y="5120640"/>
            <a:ext cx="1463040" cy="54864"/>
          </a:xfrm>
          <a:prstGeom prst="rect">
            <a:avLst/>
          </a:prstGeom>
          <a:solidFill>
            <a:srgbClr val="F27038"/>
          </a:solidFill>
          <a:ln w="12700">
            <a:solidFill>
              <a:srgbClr val="F27038"/>
            </a:solidFill>
            <a:prstDash val="solid"/>
          </a:ln>
        </p:spPr>
      </p:sp>
      <p:sp>
        <p:nvSpPr>
          <p:cNvPr id="7" name="Text 5"/>
          <p:cNvSpPr/>
          <p:nvPr/>
        </p:nvSpPr>
        <p:spPr>
          <a:xfrm>
            <a:off x="822960" y="5303520"/>
            <a:ext cx="7315200" cy="7315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Qasim Khursheed, Single Grain</a:t>
            </a:r>
            <a:endParaRPr lang="en-US" sz="1300" dirty="0"/>
          </a:p>
          <a:p>
            <a:pPr indent="0" marL="0">
              <a:buNone/>
            </a:pPr>
            <a:r>
              <a:rPr lang="en-US" sz="1300" dirty="0">
                <a:solidFill>
                  <a:srgbClr val="929194"/>
                </a:solidFill>
                <a:latin typeface="Arial" pitchFamily="34" charset="0"/>
                <a:ea typeface="Arial" pitchFamily="34" charset="-122"/>
                <a:cs typeface="Arial" pitchFamily="34" charset="-120"/>
              </a:rPr>
              <a:t>khursheed-qasim@outlook.com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Single Grain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Organic search recovery plan</dc:title>
  <dc:subject>PptxGenJS Presentation</dc:subject>
  <dc:creator>Qasim Khursheed</dc:creator>
  <cp:lastModifiedBy>Qasim Khursheed</cp:lastModifiedBy>
  <cp:revision>1</cp:revision>
  <dcterms:created xsi:type="dcterms:W3CDTF">2026-10-12T20:00:41Z</dcterms:created>
  <dcterms:modified xsi:type="dcterms:W3CDTF">2026-10-12T20:00:41Z</dcterms:modified>
</cp:coreProperties>
</file>