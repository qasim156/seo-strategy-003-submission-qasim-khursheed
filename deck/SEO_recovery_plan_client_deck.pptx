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Monthly visits from Google</a:t>
            </a:r>
          </a:p>
        </c:rich>
      </c:tx>
      <c:layout/>
      <c:overlay val="0"/>
    </c:title>
    <c:autoTitleDeleted val="0"/>
    <c:plotArea>
      <c:layout/>
      <c:barChart>
        <c:barDir val="col"/>
        <c:grouping val="clustered"/>
        <c:varyColors val="0"/>
        <c:ser>
          <c:idx val="0"/>
          <c:order val="0"/>
          <c:tx>
            <c:strRef>
              <c:f>Sheet1!$B$1</c:f>
              <c:strCache>
                <c:ptCount val="1"/>
                <c:pt idx="0">
                  <c:v>Monthly organic visits</c:v>
                </c:pt>
              </c:strCache>
            </c:strRef>
          </c:tx>
          <c:spPr>
            <a:solidFill>
              <a:srgbClr val="929194"/>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dPt>
            <c:idx val="0"/>
            <c:invertIfNegative val="0"/>
            <c:bubble3D val="0"/>
            <c:spPr>
              <a:solidFill>
                <a:srgbClr val="929194"/>
              </a:solidFill>
              <a:effectLst/>
            </c:spPr>
          </c:dPt>
          <c:dPt>
            <c:idx val="1"/>
            <c:invertIfNegative val="0"/>
            <c:bubble3D val="0"/>
            <c:spPr>
              <a:solidFill>
                <a:srgbClr val="F27038"/>
              </a:solidFill>
              <a:effectLst/>
            </c:spPr>
          </c:dPt>
          <c:cat>
            <c:multiLvlStrRef>
              <c:f>Sheet1!$A$2:$A$3</c:f>
              <c:multiLvlStrCache>
                <c:ptCount val="2"/>
                <c:lvl>
                  <c:pt idx="0">
                    <c:v>12 months ago</c:v>
                  </c:pt>
                  <c:pt idx="1">
                    <c:v>Today</c:v>
                  </c:pt>
                </c:lvl>
              </c:multiLvlStrCache>
            </c:multiLvlStrRef>
          </c:cat>
          <c:val>
            <c:numRef>
              <c:f>Sheet1!$B$2:$B$3</c:f>
              <c:numCache>
                <c:formatCode>General</c:formatCode>
                <c:ptCount val="2"/>
                <c:pt idx="0">
                  <c:v>140000</c:v>
                </c:pt>
                <c:pt idx="1">
                  <c:v>85000</c:v>
                </c:pt>
              </c:numCache>
            </c:numRef>
          </c:val>
        </c:ser>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60000"/>
          <c:min val="0"/>
        </c:scaling>
        <c:delete val="0"/>
        <c:axPos val="l"/>
        <c:majorGridlines>
          <c:spPr>
            <a:ln w="6350" cap="flat">
              <a:solidFill>
                <a:srgbClr val="E6E6E6"/>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lost visits</c:v>
                </c:pt>
              </c:strCache>
            </c:strRef>
          </c:tx>
          <c:spPr>
            <a:solidFill>
              <a:srgbClr val="F27038"/>
            </a:solidFill>
            <a:effectLst/>
          </c:spPr>
          <c:invertIfNegative val="0"/>
          <c:dLbls>
            <c:numFmt formatCode="0.0&quot;%&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Sheet1!$A$2:$A$6</c:f>
              <c:multiLvlStrCache>
                <c:ptCount val="5"/>
                <c:lvl>
                  <c:pt idx="0">
                    <c:v>Old guides that competitors overtook</c:v>
                  </c:pt>
                  <c:pt idx="1">
                    <c:v>Pages with a year in the web address that expired</c:v>
                  </c:pt>
                  <c:pt idx="2">
                    <c:v>Off-topic pages (bookkeeping, accounting lists)</c:v>
                  </c:pt>
                  <c:pt idx="3">
                    <c:v>Pages where the rules changed but the page did not</c:v>
                  </c:pt>
                  <c:pt idx="4">
                    <c:v>Everything else, net</c:v>
                  </c:pt>
                </c:lvl>
              </c:multiLvlStrCache>
            </c:multiLvlStrRef>
          </c:cat>
          <c:val>
            <c:numRef>
              <c:f>Sheet1!$B$2:$B$6</c:f>
              <c:numCache>
                <c:formatCode>General</c:formatCode>
                <c:ptCount val="5"/>
                <c:pt idx="0">
                  <c:v>46.2</c:v>
                </c:pt>
                <c:pt idx="1">
                  <c:v>35</c:v>
                </c:pt>
                <c:pt idx="2">
                  <c:v>9.1</c:v>
                </c:pt>
                <c:pt idx="3">
                  <c:v>6.2</c:v>
                </c:pt>
                <c:pt idx="4">
                  <c:v>3.5</c:v>
                </c:pt>
              </c:numCache>
            </c:numRef>
          </c:val>
        </c:ser>
        <c:dLbls>
          <c:numFmt formatCode="0.0&quot;%&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Average time since last update</a:t>
            </a:r>
          </a:p>
        </c:rich>
      </c:tx>
      <c:layout/>
      <c:overlay val="0"/>
    </c:title>
    <c:autoTitleDeleted val="0"/>
    <c:plotArea>
      <c:layout/>
      <c:barChart>
        <c:barDir val="col"/>
        <c:grouping val="clustered"/>
        <c:varyColors val="0"/>
        <c:ser>
          <c:idx val="0"/>
          <c:order val="0"/>
          <c:tx>
            <c:strRef>
              <c:f>Sheet1!$B$1</c:f>
              <c:strCache>
                <c:ptCount val="1"/>
                <c:pt idx="0">
                  <c:v>Months since the page was last updated</c:v>
                </c:pt>
              </c:strCache>
            </c:strRef>
          </c:tx>
          <c:spPr>
            <a:solidFill>
              <a:srgbClr val="F27038"/>
            </a:solidFill>
            <a:effectLst/>
          </c:spPr>
          <c:invertIfNegative val="0"/>
          <c:dLbls>
            <c:numFmt formatCode="0&quot; months&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dPt>
            <c:idx val="0"/>
            <c:invertIfNegative val="0"/>
            <c:bubble3D val="0"/>
            <c:spPr>
              <a:solidFill>
                <a:srgbClr val="F27038"/>
              </a:solidFill>
              <a:effectLst/>
            </c:spPr>
          </c:dPt>
          <c:dPt>
            <c:idx val="1"/>
            <c:invertIfNegative val="0"/>
            <c:bubble3D val="0"/>
            <c:spPr>
              <a:solidFill>
                <a:srgbClr val="2F343A"/>
              </a:solidFill>
              <a:effectLst/>
            </c:spPr>
          </c:dPt>
          <c:cat>
            <c:multiLvlStrRef>
              <c:f>Sheet1!$A$2:$A$3</c:f>
              <c:multiLvlStrCache>
                <c:ptCount val="2"/>
                <c:lvl>
                  <c:pt idx="0">
                    <c:v>Pages that dropped (13 pages)</c:v>
                  </c:pt>
                  <c:pt idx="1">
                    <c:v>Pages that held or grew (5 pages)</c:v>
                  </c:pt>
                </c:lvl>
              </c:multiLvlStrCache>
            </c:multiLvlStrRef>
          </c:cat>
          <c:val>
            <c:numRef>
              <c:f>Sheet1!$B$2:$B$3</c:f>
              <c:numCache>
                <c:formatCode>General</c:formatCode>
                <c:ptCount val="2"/>
                <c:pt idx="0">
                  <c:v>39</c:v>
                </c:pt>
                <c:pt idx="1">
                  <c:v>21</c:v>
                </c:pt>
              </c:numCache>
            </c:numRef>
          </c:val>
        </c:ser>
        <c:dLbls>
          <c:numFmt formatCode="0&quot; months&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48"/>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Number of websites linking to the page</a:t>
            </a:r>
          </a:p>
        </c:rich>
      </c:tx>
      <c:layout/>
      <c:overlay val="0"/>
    </c:title>
    <c:autoTitleDeleted val="0"/>
    <c:plotArea>
      <c:layout/>
      <c:barChart>
        <c:barDir val="col"/>
        <c:grouping val="clustered"/>
        <c:varyColors val="0"/>
        <c:ser>
          <c:idx val="0"/>
          <c:order val="0"/>
          <c:tx>
            <c:strRef>
              <c:f>Sheet1!$B$1</c:f>
              <c:strCache>
                <c:ptCount val="1"/>
                <c:pt idx="0">
                  <c:v>Pages that fell</c:v>
                </c:pt>
              </c:strCache>
            </c:strRef>
          </c:tx>
          <c:spPr>
            <a:solidFill>
              <a:srgbClr val="F27038"/>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Sheet1!$A$2:$A$7</c:f>
              <c:multiLvlStrCache>
                <c:ptCount val="6"/>
                <c:lvl>
                  <c:pt idx="0">
                    <c:v>Expense mgmt guide</c:v>
                  </c:pt>
                  <c:pt idx="1">
                    <c:v>Fraud statistics</c:v>
                  </c:pt>
                  <c:pt idx="2">
                    <c:v>Corporate card guide</c:v>
                  </c:pt>
                  <c:pt idx="3">
                    <c:v>Expense categories</c:v>
                  </c:pt>
                  <c:pt idx="4">
                    <c:v>Travel policy</c:v>
                  </c:pt>
                  <c:pt idx="5">
                    <c:v>Spend mgmt guide</c:v>
                  </c:pt>
                </c:lvl>
              </c:multiLvlStrCache>
            </c:multiLvlStrRef>
          </c:cat>
          <c:val>
            <c:numRef>
              <c:f>Sheet1!$B$2:$B$7</c:f>
              <c:numCache>
                <c:formatCode>General</c:formatCode>
                <c:ptCount val="6"/>
                <c:pt idx="0">
                  <c:v>84</c:v>
                </c:pt>
                <c:pt idx="1">
                  <c:v>74</c:v>
                </c:pt>
                <c:pt idx="2">
                  <c:v>61</c:v>
                </c:pt>
                <c:pt idx="3">
                  <c:v>52</c:v>
                </c:pt>
                <c:pt idx="4">
                  <c:v>0</c:v>
                </c:pt>
                <c:pt idx="5">
                  <c:v>0</c:v>
                </c:pt>
              </c:numCache>
            </c:numRef>
          </c:val>
        </c:ser>
        <c:ser>
          <c:idx val="1"/>
          <c:order val="1"/>
          <c:tx>
            <c:strRef>
              <c:f>Sheet1!$C$1</c:f>
              <c:strCache>
                <c:ptCount val="1"/>
                <c:pt idx="0">
                  <c:v>Pages that grew</c:v>
                </c:pt>
              </c:strCache>
            </c:strRef>
          </c:tx>
          <c:spPr>
            <a:solidFill>
              <a:srgbClr val="2F343A"/>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Sheet1!$A$2:$A$7</c:f>
              <c:multiLvlStrCache>
                <c:ptCount val="6"/>
                <c:lvl>
                  <c:pt idx="0">
                    <c:v>Expense mgmt guide</c:v>
                  </c:pt>
                  <c:pt idx="1">
                    <c:v>Fraud statistics</c:v>
                  </c:pt>
                  <c:pt idx="2">
                    <c:v>Corporate card guide</c:v>
                  </c:pt>
                  <c:pt idx="3">
                    <c:v>Expense categories</c:v>
                  </c:pt>
                  <c:pt idx="4">
                    <c:v>Travel policy</c:v>
                  </c:pt>
                  <c:pt idx="5">
                    <c:v>Spend mgmt guide</c:v>
                  </c:pt>
                </c:lvl>
              </c:multiLvlStrCache>
            </c:multiLvlStrRef>
          </c:cat>
          <c:val>
            <c:numRef>
              <c:f>Sheet1!$C$2:$C$7</c:f>
              <c:numCache>
                <c:formatCode>General</c:formatCode>
                <c:ptCount val="6"/>
                <c:pt idx="0">
                  <c:v>0</c:v>
                </c:pt>
                <c:pt idx="1">
                  <c:v>0</c:v>
                </c:pt>
                <c:pt idx="2">
                  <c:v>0</c:v>
                </c:pt>
                <c:pt idx="3">
                  <c:v>0</c:v>
                </c:pt>
                <c:pt idx="4">
                  <c:v>26</c:v>
                </c:pt>
                <c:pt idx="5">
                  <c:v>11</c:v>
                </c:pt>
              </c:numCache>
            </c:numRef>
          </c:val>
        </c:ser>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0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The 35,710 monthly visits your top pages lost, split by whether the page ever produces a lead</a:t>
            </a:r>
          </a:p>
        </c:rich>
      </c:tx>
      <c:layout/>
      <c:overlay val="0"/>
    </c:title>
    <c:autoTitleDeleted val="0"/>
    <c:plotArea>
      <c:layout/>
      <c:barChart>
        <c:barDir val="bar"/>
        <c:grouping val="stacked"/>
        <c:varyColors val="0"/>
        <c:ser>
          <c:idx val="0"/>
          <c:order val="0"/>
          <c:tx>
            <c:strRef>
              <c:f>Sheet1!$B$1</c:f>
              <c:strCache>
                <c:ptCount val="1"/>
                <c:pt idx="0">
                  <c:v>From pages with zero leads: 16,460</c:v>
                </c:pt>
              </c:strCache>
            </c:strRef>
          </c:tx>
          <c:spPr>
            <a:solidFill>
              <a:srgbClr val="F27038"/>
            </a:solidFill>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Sheet1!$A$2:$A$2</c:f>
              <c:multiLvlStrCache>
                <c:ptCount val="1"/>
                <c:lvl>
                  <c:pt idx="0">
                    <c:v>Lost visits</c:v>
                  </c:pt>
                </c:lvl>
              </c:multiLvlStrCache>
            </c:multiLvlStrRef>
          </c:cat>
          <c:val>
            <c:numRef>
              <c:f>Sheet1!$B$2:$B$2</c:f>
              <c:numCache>
                <c:formatCode>General</c:formatCode>
                <c:ptCount val="1"/>
                <c:pt idx="0">
                  <c:v>16460</c:v>
                </c:pt>
              </c:numCache>
            </c:numRef>
          </c:val>
        </c:ser>
        <c:ser>
          <c:idx val="1"/>
          <c:order val="1"/>
          <c:tx>
            <c:strRef>
              <c:f>Sheet1!$C$1</c:f>
              <c:strCache>
                <c:ptCount val="1"/>
                <c:pt idx="0">
                  <c:v>From pages that produce leads: 19,250</c:v>
                </c:pt>
              </c:strCache>
            </c:strRef>
          </c:tx>
          <c:spPr>
            <a:solidFill>
              <a:srgbClr val="2F343A"/>
            </a:solidFill>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Sheet1!$A$2:$A$2</c:f>
              <c:multiLvlStrCache>
                <c:ptCount val="1"/>
                <c:lvl>
                  <c:pt idx="0">
                    <c:v>Lost visits</c:v>
                  </c:pt>
                </c:lvl>
              </c:multiLvlStrCache>
            </c:multiLvlStrRef>
          </c:cat>
          <c:val>
            <c:numRef>
              <c:f>Sheet1!$C$2:$C$2</c:f>
              <c:numCache>
                <c:formatCode>General</c:formatCode>
                <c:ptCount val="1"/>
                <c:pt idx="0">
                  <c:v>19250</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Leads per 1,000 visits</c:v>
                </c:pt>
              </c:strCache>
            </c:strRef>
          </c:tx>
          <c:spPr>
            <a:solidFill>
              <a:srgbClr val="F27038"/>
            </a:solidFill>
            <a:effectLst/>
          </c:spPr>
          <c:invertIfNegative val="0"/>
          <c:dLbls>
            <c:numFmt formatCode="0.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Comparison pages (vs Ramp, vs Brex)</c:v>
                  </c:pt>
                  <c:pt idx="1">
                    <c:v>Corporate card guide</c:v>
                  </c:pt>
                  <c:pt idx="2">
                    <c:v>Core expense management guides and templates</c:v>
                  </c:pt>
                  <c:pt idx="3">
                    <c:v>Rates and deadlines pages</c:v>
                  </c:pt>
                  <c:pt idx="4">
                    <c:v>Off-topic finance pages</c:v>
                  </c:pt>
                </c:lvl>
              </c:multiLvlStrCache>
            </c:multiLvlStrRef>
          </c:cat>
          <c:val>
            <c:numRef>
              <c:f>Sheet1!$B$2:$B$6</c:f>
              <c:numCache>
                <c:formatCode>General</c:formatCode>
                <c:ptCount val="5"/>
                <c:pt idx="0">
                  <c:v>12</c:v>
                </c:pt>
                <c:pt idx="1">
                  <c:v>2.5</c:v>
                </c:pt>
                <c:pt idx="2">
                  <c:v>0.68</c:v>
                </c:pt>
                <c:pt idx="3">
                  <c:v>0.61</c:v>
                </c:pt>
                <c:pt idx="4">
                  <c:v>0</c:v>
                </c:pt>
              </c:numCache>
            </c:numRef>
          </c:val>
        </c:ser>
        <c:dLbls>
          <c:numFmt formatCode="0.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4"/>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Monthly visits from Google (projection)</a:t>
            </a:r>
          </a:p>
        </c:rich>
      </c:tx>
      <c:layout/>
      <c:overlay val="0"/>
    </c:title>
    <c:autoTitleDeleted val="0"/>
    <c:plotArea>
      <c:layout/>
      <c:lineChart>
        <c:varyColors val="0"/>
        <c:ser>
          <c:idx val="0"/>
          <c:order val="0"/>
          <c:tx>
            <c:strRef>
              <c:f>Sheet1!$B$1</c:f>
              <c:strCache>
                <c:ptCount val="1"/>
                <c:pt idx="0">
                  <c:v>Monthly visits (projection)</c:v>
                </c:pt>
              </c:strCache>
            </c:strRef>
          </c:tx>
          <c:spPr>
            <a:solidFill>
              <a:srgbClr val="F27038"/>
            </a:solidFill>
            <a:ln w="31750" cap="flat">
              <a:solidFill>
                <a:srgbClr val="F27038"/>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dLblPos val="t"/>
            <c:showLegendKey val="0"/>
            <c:showVal val="1"/>
            <c:showCatName val="0"/>
            <c:showSerName val="0"/>
            <c:showPercent val="0"/>
            <c:showBubbleSize val="0"/>
            <c:showLeaderLines val="0"/>
          </c:dLbls>
          <c:marker>
            <c:symbol val="circle"/>
            <c:size val="8"/>
            <c:spPr>
              <a:solidFill>
                <a:srgbClr val="F27038"/>
              </a:solidFill>
              <a:ln w="9525" cap="flat">
                <a:solidFill>
                  <a:srgbClr val="F27038"/>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Sheet1!$B$2:$B$6</c:f>
              <c:numCache>
                <c:formatCode>General</c:formatCode>
                <c:ptCount val="5"/>
                <c:pt idx="0">
                  <c:v>85000</c:v>
                </c:pt>
                <c:pt idx="1">
                  <c:v>92000</c:v>
                </c:pt>
                <c:pt idx="2">
                  <c:v>105000</c:v>
                </c:pt>
                <c:pt idx="3">
                  <c:v>113000</c:v>
                </c:pt>
                <c:pt idx="4">
                  <c:v>117000</c:v>
                </c:pt>
              </c:numCache>
            </c:numRef>
          </c:val>
          <c:smooth val="0"/>
        </c:ser>
        <c:dLbls>
          <c:numFmt formatCode="#,##0" sourceLinked="0"/>
          <c:txPr>
            <a:bodyPr/>
            <a:lstStyle/>
            <a:p>
              <a:pPr>
                <a:defRPr b="0" i="0" strike="noStrike" sz="1100" u="none">
                  <a:solidFill>
                    <a:srgbClr val="2C2F33"/>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50000"/>
          <c:min val="60000"/>
        </c:scaling>
        <c:delete val="0"/>
        <c:axPos val="l"/>
        <c:majorGridlines>
          <c:spPr>
            <a:ln w="6350" cap="flat">
              <a:solidFill>
                <a:srgbClr val="E6E6E6"/>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Qualified leads from search, indexed to today = 100 (projection)</a:t>
            </a:r>
          </a:p>
        </c:rich>
      </c:tx>
      <c:layout/>
      <c:overlay val="0"/>
    </c:title>
    <c:autoTitleDeleted val="0"/>
    <c:plotArea>
      <c:layout/>
      <c:lineChart>
        <c:varyColors val="0"/>
        <c:ser>
          <c:idx val="0"/>
          <c:order val="0"/>
          <c:tx>
            <c:strRef>
              <c:f>Sheet1!$B$1</c:f>
              <c:strCache>
                <c:ptCount val="1"/>
                <c:pt idx="0">
                  <c:v>Qualified leads (today = 100)</c:v>
                </c:pt>
              </c:strCache>
            </c:strRef>
          </c:tx>
          <c:spPr>
            <a:solidFill>
              <a:srgbClr val="2F343A"/>
            </a:solidFill>
            <a:ln w="31750" cap="flat">
              <a:solidFill>
                <a:srgbClr val="2F343A"/>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dLblPos val="t"/>
            <c:showLegendKey val="0"/>
            <c:showVal val="1"/>
            <c:showCatName val="0"/>
            <c:showSerName val="0"/>
            <c:showPercent val="0"/>
            <c:showBubbleSize val="0"/>
            <c:showLeaderLines val="0"/>
          </c:dLbls>
          <c:marker>
            <c:symbol val="circle"/>
            <c:size val="8"/>
            <c:spPr>
              <a:solidFill>
                <a:srgbClr val="2F343A"/>
              </a:solidFill>
              <a:ln w="9525" cap="flat">
                <a:solidFill>
                  <a:srgbClr val="2F343A"/>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Sheet1!$B$2:$B$6</c:f>
              <c:numCache>
                <c:formatCode>General</c:formatCode>
                <c:ptCount val="5"/>
                <c:pt idx="0">
                  <c:v>100</c:v>
                </c:pt>
                <c:pt idx="1">
                  <c:v>115</c:v>
                </c:pt>
                <c:pt idx="2">
                  <c:v>150</c:v>
                </c:pt>
                <c:pt idx="3">
                  <c:v>180</c:v>
                </c:pt>
                <c:pt idx="4">
                  <c:v>220</c:v>
                </c:pt>
              </c:numCache>
            </c:numRef>
          </c:val>
          <c:smooth val="0"/>
        </c:ser>
        <c:dLbls>
          <c:numFmt formatCode="0" sourceLinked="0"/>
          <c:txPr>
            <a:bodyPr/>
            <a:lstStyle/>
            <a:p>
              <a:pPr>
                <a:defRPr b="0" i="0" strike="noStrike" sz="1100" u="none">
                  <a:solidFill>
                    <a:srgbClr val="2C2F33"/>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26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20"/>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F27038"/>
          </a:solidFill>
          <a:ln w="12700">
            <a:solidFill>
              <a:srgbClr val="F27038"/>
            </a:solidFill>
            <a:prstDash val="solid"/>
          </a:ln>
        </p:spPr>
      </p:sp>
      <p:sp>
        <p:nvSpPr>
          <p:cNvPr id="3" name="Text 1"/>
          <p:cNvSpPr/>
          <p:nvPr/>
        </p:nvSpPr>
        <p:spPr>
          <a:xfrm>
            <a:off x="822960" y="548640"/>
            <a:ext cx="2011680" cy="3657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Single</a:t>
            </a:r>
            <a:pPr indent="0" marL="0">
              <a:buNone/>
            </a:pPr>
            <a:r>
              <a:rPr lang="en-US" sz="2000" b="1" dirty="0">
                <a:solidFill>
                  <a:srgbClr val="F27038"/>
                </a:solidFill>
                <a:latin typeface="Arial" pitchFamily="34" charset="0"/>
                <a:ea typeface="Arial" pitchFamily="34" charset="-122"/>
                <a:cs typeface="Arial" pitchFamily="34" charset="-120"/>
              </a:rPr>
              <a:t>Grain</a:t>
            </a:r>
            <a:endParaRPr lang="en-US" sz="2000" dirty="0"/>
          </a:p>
        </p:txBody>
      </p:sp>
      <p:sp>
        <p:nvSpPr>
          <p:cNvPr id="4" name="Text 2"/>
          <p:cNvSpPr/>
          <p:nvPr/>
        </p:nvSpPr>
        <p:spPr>
          <a:xfrm>
            <a:off x="822960" y="2011680"/>
            <a:ext cx="10424160" cy="173736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Organic search: why traffic fell, and the plan to grow what matters</a:t>
            </a:r>
            <a:endParaRPr lang="en-US" sz="3800" dirty="0"/>
          </a:p>
        </p:txBody>
      </p:sp>
      <p:sp>
        <p:nvSpPr>
          <p:cNvPr id="5" name="Text 3"/>
          <p:cNvSpPr/>
          <p:nvPr/>
        </p:nvSpPr>
        <p:spPr>
          <a:xfrm>
            <a:off x="822960" y="3794760"/>
            <a:ext cx="10058400" cy="548640"/>
          </a:xfrm>
          <a:prstGeom prst="rect">
            <a:avLst/>
          </a:prstGeom>
          <a:noFill/>
          <a:ln/>
        </p:spPr>
        <p:txBody>
          <a:bodyPr wrap="square" lIns="0" tIns="0" rIns="0" bIns="0" rtlCol="0" anchor="ctr"/>
          <a:lstStyle/>
          <a:p>
            <a:pPr indent="0" marL="0">
              <a:buNone/>
            </a:pPr>
            <a:r>
              <a:rPr lang="en-US" sz="2000" dirty="0">
                <a:solidFill>
                  <a:srgbClr val="E9EFF4"/>
                </a:solidFill>
                <a:latin typeface="Arial" pitchFamily="34" charset="0"/>
                <a:ea typeface="Arial" pitchFamily="34" charset="-122"/>
                <a:cs typeface="Arial" pitchFamily="34" charset="-120"/>
              </a:rPr>
              <a:t>A 12-month recovery plan, and a better way to measure it</a:t>
            </a:r>
            <a:endParaRPr lang="en-US" sz="2000" dirty="0"/>
          </a:p>
        </p:txBody>
      </p:sp>
      <p:sp>
        <p:nvSpPr>
          <p:cNvPr id="6" name="Shape 4"/>
          <p:cNvSpPr/>
          <p:nvPr/>
        </p:nvSpPr>
        <p:spPr>
          <a:xfrm>
            <a:off x="822960" y="4572000"/>
            <a:ext cx="1463040" cy="54864"/>
          </a:xfrm>
          <a:prstGeom prst="rect">
            <a:avLst/>
          </a:prstGeom>
          <a:solidFill>
            <a:srgbClr val="F27038"/>
          </a:solidFill>
          <a:ln w="12700">
            <a:solidFill>
              <a:srgbClr val="F27038"/>
            </a:solidFill>
            <a:prstDash val="solid"/>
          </a:ln>
        </p:spPr>
      </p:sp>
      <p:sp>
        <p:nvSpPr>
          <p:cNvPr id="7" name="Text 5"/>
          <p:cNvSpPr/>
          <p:nvPr/>
        </p:nvSpPr>
        <p:spPr>
          <a:xfrm>
            <a:off x="822960" y="4800600"/>
            <a:ext cx="10058400" cy="822960"/>
          </a:xfrm>
          <a:prstGeom prst="rect">
            <a:avLst/>
          </a:prstGeom>
          <a:noFill/>
          <a:ln/>
        </p:spPr>
        <p:txBody>
          <a:bodyPr wrap="square" lIns="0" tIns="0" rIns="0" bIns="0" rtlCol="0" anchor="t"/>
          <a:lstStyle/>
          <a:p>
            <a:pPr indent="0" marL="0">
              <a:buNone/>
            </a:pPr>
            <a:r>
              <a:rPr lang="en-US" sz="1300" dirty="0">
                <a:solidFill>
                  <a:srgbClr val="929194"/>
                </a:solidFill>
                <a:latin typeface="Arial" pitchFamily="34" charset="0"/>
                <a:ea typeface="Arial" pitchFamily="34" charset="-122"/>
                <a:cs typeface="Arial" pitchFamily="34" charset="-120"/>
              </a:rPr>
              <a:t>Prepared for the marketing leadership team</a:t>
            </a:r>
            <a:endParaRPr lang="en-US" sz="1300" dirty="0"/>
          </a:p>
          <a:p>
            <a:pPr indent="0" marL="0">
              <a:buNone/>
            </a:pPr>
            <a:r>
              <a:rPr lang="en-US" sz="1300" dirty="0">
                <a:solidFill>
                  <a:srgbClr val="929194"/>
                </a:solidFill>
                <a:latin typeface="Arial" pitchFamily="34" charset="0"/>
                <a:ea typeface="Arial" pitchFamily="34" charset="-122"/>
                <a:cs typeface="Arial" pitchFamily="34" charset="-120"/>
              </a:rPr>
              <a:t>Qasim Khursheed, Single Grain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WHERE WE ARE</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Organic traffic is down 40% in a year. A third of the keywords you ranked for are gone.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2</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your traffic and ranking figures, last 12 months</a:t>
            </a:r>
            <a:endParaRPr lang="en-US" sz="850" dirty="0"/>
          </a:p>
        </p:txBody>
      </p:sp>
      <p:graphicFrame>
        <p:nvGraphicFramePr>
          <p:cNvPr id="8" name="Chart 0" descr=""/>
          <p:cNvGraphicFramePr/>
          <p:nvPr/>
        </p:nvGraphicFramePr>
        <p:xfrm>
          <a:off x="548640" y="1828800"/>
          <a:ext cx="5669280" cy="35661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766560" y="1920240"/>
            <a:ext cx="2377440" cy="1463040"/>
          </a:xfrm>
          <a:prstGeom prst="rect">
            <a:avLst/>
          </a:prstGeom>
          <a:solidFill>
            <a:srgbClr val="F8F8F8"/>
          </a:solidFill>
          <a:ln w="12700">
            <a:solidFill>
              <a:srgbClr val="E9EFF4"/>
            </a:solidFill>
            <a:prstDash val="solid"/>
          </a:ln>
        </p:spPr>
      </p:sp>
      <p:sp>
        <p:nvSpPr>
          <p:cNvPr id="10" name="Text 7"/>
          <p:cNvSpPr/>
          <p:nvPr/>
        </p:nvSpPr>
        <p:spPr>
          <a:xfrm>
            <a:off x="6949440" y="2029968"/>
            <a:ext cx="20116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140K</a:t>
            </a:r>
            <a:endParaRPr lang="en-US" sz="3000" dirty="0"/>
          </a:p>
        </p:txBody>
      </p:sp>
      <p:sp>
        <p:nvSpPr>
          <p:cNvPr id="11" name="Text 8"/>
          <p:cNvSpPr/>
          <p:nvPr/>
        </p:nvSpPr>
        <p:spPr>
          <a:xfrm>
            <a:off x="6949440" y="2724912"/>
            <a:ext cx="20116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visits a month, 12 months ago</a:t>
            </a:r>
            <a:endParaRPr lang="en-US" sz="1150" dirty="0"/>
          </a:p>
        </p:txBody>
      </p:sp>
      <p:sp>
        <p:nvSpPr>
          <p:cNvPr id="12" name="Shape 9"/>
          <p:cNvSpPr/>
          <p:nvPr/>
        </p:nvSpPr>
        <p:spPr>
          <a:xfrm>
            <a:off x="9235440" y="1920240"/>
            <a:ext cx="2377440" cy="1463040"/>
          </a:xfrm>
          <a:prstGeom prst="rect">
            <a:avLst/>
          </a:prstGeom>
          <a:solidFill>
            <a:srgbClr val="2F343A"/>
          </a:solidFill>
          <a:ln w="12700">
            <a:solidFill>
              <a:srgbClr val="2F343A"/>
            </a:solidFill>
            <a:prstDash val="solid"/>
          </a:ln>
        </p:spPr>
      </p:sp>
      <p:sp>
        <p:nvSpPr>
          <p:cNvPr id="13" name="Text 10"/>
          <p:cNvSpPr/>
          <p:nvPr/>
        </p:nvSpPr>
        <p:spPr>
          <a:xfrm>
            <a:off x="9418320" y="2029968"/>
            <a:ext cx="201168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85K</a:t>
            </a:r>
            <a:endParaRPr lang="en-US" sz="3000" dirty="0"/>
          </a:p>
        </p:txBody>
      </p:sp>
      <p:sp>
        <p:nvSpPr>
          <p:cNvPr id="14" name="Text 11"/>
          <p:cNvSpPr/>
          <p:nvPr/>
        </p:nvSpPr>
        <p:spPr>
          <a:xfrm>
            <a:off x="9418320" y="2724912"/>
            <a:ext cx="201168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visits a month today</a:t>
            </a:r>
            <a:endParaRPr lang="en-US" sz="1150" dirty="0"/>
          </a:p>
        </p:txBody>
      </p:sp>
      <p:sp>
        <p:nvSpPr>
          <p:cNvPr id="15" name="Shape 12"/>
          <p:cNvSpPr/>
          <p:nvPr/>
        </p:nvSpPr>
        <p:spPr>
          <a:xfrm>
            <a:off x="6766560" y="3566160"/>
            <a:ext cx="2377440" cy="1463040"/>
          </a:xfrm>
          <a:prstGeom prst="rect">
            <a:avLst/>
          </a:prstGeom>
          <a:solidFill>
            <a:srgbClr val="F8F8F8"/>
          </a:solidFill>
          <a:ln w="12700">
            <a:solidFill>
              <a:srgbClr val="E9EFF4"/>
            </a:solidFill>
            <a:prstDash val="solid"/>
          </a:ln>
        </p:spPr>
      </p:sp>
      <p:sp>
        <p:nvSpPr>
          <p:cNvPr id="16" name="Text 13"/>
          <p:cNvSpPr/>
          <p:nvPr/>
        </p:nvSpPr>
        <p:spPr>
          <a:xfrm>
            <a:off x="6949440" y="3675888"/>
            <a:ext cx="20116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18,000</a:t>
            </a:r>
            <a:endParaRPr lang="en-US" sz="3000" dirty="0"/>
          </a:p>
        </p:txBody>
      </p:sp>
      <p:sp>
        <p:nvSpPr>
          <p:cNvPr id="17" name="Text 14"/>
          <p:cNvSpPr/>
          <p:nvPr/>
        </p:nvSpPr>
        <p:spPr>
          <a:xfrm>
            <a:off x="6949440" y="4370832"/>
            <a:ext cx="20116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keywords ranking, 12 months ago</a:t>
            </a:r>
            <a:endParaRPr lang="en-US" sz="1150" dirty="0"/>
          </a:p>
        </p:txBody>
      </p:sp>
      <p:sp>
        <p:nvSpPr>
          <p:cNvPr id="18" name="Shape 15"/>
          <p:cNvSpPr/>
          <p:nvPr/>
        </p:nvSpPr>
        <p:spPr>
          <a:xfrm>
            <a:off x="9235440" y="3566160"/>
            <a:ext cx="2377440" cy="1463040"/>
          </a:xfrm>
          <a:prstGeom prst="rect">
            <a:avLst/>
          </a:prstGeom>
          <a:solidFill>
            <a:srgbClr val="2F343A"/>
          </a:solidFill>
          <a:ln w="12700">
            <a:solidFill>
              <a:srgbClr val="2F343A"/>
            </a:solidFill>
            <a:prstDash val="solid"/>
          </a:ln>
        </p:spPr>
      </p:sp>
      <p:sp>
        <p:nvSpPr>
          <p:cNvPr id="19" name="Text 16"/>
          <p:cNvSpPr/>
          <p:nvPr/>
        </p:nvSpPr>
        <p:spPr>
          <a:xfrm>
            <a:off x="9418320" y="3675888"/>
            <a:ext cx="201168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12,000</a:t>
            </a:r>
            <a:endParaRPr lang="en-US" sz="3000" dirty="0"/>
          </a:p>
        </p:txBody>
      </p:sp>
      <p:sp>
        <p:nvSpPr>
          <p:cNvPr id="20" name="Text 17"/>
          <p:cNvSpPr/>
          <p:nvPr/>
        </p:nvSpPr>
        <p:spPr>
          <a:xfrm>
            <a:off x="9418320" y="4370832"/>
            <a:ext cx="201168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keywords ranking today</a:t>
            </a:r>
            <a:endParaRPr lang="en-US" sz="1150" dirty="0"/>
          </a:p>
        </p:txBody>
      </p:sp>
      <p:sp>
        <p:nvSpPr>
          <p:cNvPr id="21" name="Shape 18"/>
          <p:cNvSpPr/>
          <p:nvPr/>
        </p:nvSpPr>
        <p:spPr>
          <a:xfrm>
            <a:off x="548640" y="5623560"/>
            <a:ext cx="11064240" cy="566928"/>
          </a:xfrm>
          <a:prstGeom prst="rect">
            <a:avLst/>
          </a:prstGeom>
          <a:solidFill>
            <a:srgbClr val="E9EFF4"/>
          </a:solidFill>
          <a:ln w="12700">
            <a:solidFill>
              <a:srgbClr val="E9EFF4"/>
            </a:solidFill>
            <a:prstDash val="solid"/>
          </a:ln>
        </p:spPr>
      </p:sp>
      <p:sp>
        <p:nvSpPr>
          <p:cNvPr id="22" name="Shape 19"/>
          <p:cNvSpPr/>
          <p:nvPr/>
        </p:nvSpPr>
        <p:spPr>
          <a:xfrm>
            <a:off x="548640" y="5623560"/>
            <a:ext cx="82296" cy="566928"/>
          </a:xfrm>
          <a:prstGeom prst="rect">
            <a:avLst/>
          </a:prstGeom>
          <a:solidFill>
            <a:srgbClr val="F27038"/>
          </a:solidFill>
          <a:ln w="12700">
            <a:solidFill>
              <a:srgbClr val="F27038"/>
            </a:solidFill>
            <a:prstDash val="solid"/>
          </a:ln>
        </p:spPr>
      </p:sp>
      <p:sp>
        <p:nvSpPr>
          <p:cNvPr id="23" name="Text 20"/>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number everyone is looking at is visits. The rest of this deck shows why visits are the wrong number to chase, and what to chase instead.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Almost all of the lost traffic came from two kinds of pages: old pages competitors overtook, and dated pages that expired.</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3</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audit of your 18 biggest pages (42% of today's traffic). Shares are of the visits those pages lost.</a:t>
            </a:r>
            <a:endParaRPr lang="en-US" sz="850" dirty="0"/>
          </a:p>
        </p:txBody>
      </p:sp>
      <p:graphicFrame>
        <p:nvGraphicFramePr>
          <p:cNvPr id="8" name="Chart 0" descr=""/>
          <p:cNvGraphicFramePr/>
          <p:nvPr/>
        </p:nvGraphicFramePr>
        <p:xfrm>
          <a:off x="548640" y="1828800"/>
          <a:ext cx="749808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321040" y="1920240"/>
            <a:ext cx="3291840" cy="3566160"/>
          </a:xfrm>
          <a:prstGeom prst="rect">
            <a:avLst/>
          </a:prstGeom>
          <a:noFill/>
          <a:ln/>
        </p:spPr>
        <p:txBody>
          <a:bodyPr wrap="square" lIns="0" tIns="0" rIns="0" bIns="0" rtlCol="0" anchor="t"/>
          <a:lstStyle/>
          <a:p>
            <a:pPr indent="0" marL="0">
              <a:buNone/>
            </a:pPr>
            <a:r>
              <a:rPr lang="en-US" sz="1400" b="1" dirty="0">
                <a:solidFill>
                  <a:srgbClr val="2F343A"/>
                </a:solidFill>
                <a:latin typeface="Arial" pitchFamily="34" charset="0"/>
                <a:ea typeface="Arial" pitchFamily="34" charset="-122"/>
                <a:cs typeface="Arial" pitchFamily="34" charset="-120"/>
              </a:rPr>
              <a:t>Two different problems</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The big guides slipped 2 to 5 places. That is competition: the pages above you were rewritten in 2025 and 2026, yours were not.</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Four pages fell 17 to 38 places. Two of them have a year in their web address, so they expired. Two are off-topic. No amount of promotion brings those back; they need to be redirected or retired.</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Fixing this is mostly updating and tidying what you already own. It is not a rebuild and it is not a promotion problem.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WHY IT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The older the page, the further it fell. Pages updated in the last two years held or grew.</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4</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last-updated dates and ranking change for your 18 biggest pages. Average is the median.</a:t>
            </a:r>
            <a:endParaRPr lang="en-US" sz="850" dirty="0"/>
          </a:p>
        </p:txBody>
      </p:sp>
      <p:graphicFrame>
        <p:nvGraphicFramePr>
          <p:cNvPr id="8" name="Chart 0" descr=""/>
          <p:cNvGraphicFramePr/>
          <p:nvPr/>
        </p:nvGraphicFramePr>
        <p:xfrm>
          <a:off x="548640" y="182880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6400800" y="1920240"/>
            <a:ext cx="521208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What we saw</a:t>
            </a:r>
            <a:endParaRPr lang="en-US" sz="120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None of your top pages has been touched since January 2025.</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The two pages that improved are the two most recently updated.</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For "what is expense management", every page now above you was updated between July 2025 and July 2026. Yours was last updated January 2024.</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For "business expense categories", the pages above you were updated in 2026. Yours still cites outdated IRS categories.</a:t>
            </a:r>
            <a:endParaRPr lang="en-US" sz="120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Google rewards the freshest, most complete answer. Your competitors have been rewriting; your pages have been standing still for 18 months.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WHY IT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Google now answers the question before anyone clicks. Getting back to #1 will not bring back all the clicks.</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5</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live Google results, 12 October 2026. Click-rate benchmark: Ahrefs, February 2026, 300,000 searches.</a:t>
            </a:r>
            <a:endParaRPr lang="en-US" sz="850" dirty="0"/>
          </a:p>
        </p:txBody>
      </p:sp>
      <p:sp>
        <p:nvSpPr>
          <p:cNvPr id="8" name="Shape 6"/>
          <p:cNvSpPr/>
          <p:nvPr/>
        </p:nvSpPr>
        <p:spPr>
          <a:xfrm>
            <a:off x="548640" y="1828800"/>
            <a:ext cx="5852160" cy="3657600"/>
          </a:xfrm>
          <a:prstGeom prst="rect">
            <a:avLst/>
          </a:prstGeom>
          <a:solidFill>
            <a:srgbClr val="F8F8F8"/>
          </a:solidFill>
          <a:ln w="12700">
            <a:solidFill>
              <a:srgbClr val="E9EFF4"/>
            </a:solidFill>
            <a:prstDash val="solid"/>
          </a:ln>
        </p:spPr>
      </p:sp>
      <p:sp>
        <p:nvSpPr>
          <p:cNvPr id="9" name="Text 7"/>
          <p:cNvSpPr/>
          <p:nvPr/>
        </p:nvSpPr>
        <p:spPr>
          <a:xfrm>
            <a:off x="777240" y="1938528"/>
            <a:ext cx="5394960" cy="320040"/>
          </a:xfrm>
          <a:prstGeom prst="rect">
            <a:avLst/>
          </a:prstGeom>
          <a:noFill/>
          <a:ln/>
        </p:spPr>
        <p:txBody>
          <a:bodyPr wrap="square" lIns="0" tIns="0" rIns="0" bIns="0" rtlCol="0" anchor="ctr"/>
          <a:lstStyle/>
          <a:p>
            <a:pPr indent="0" marL="0">
              <a:buNone/>
            </a:pPr>
            <a:r>
              <a:rPr lang="en-US" sz="1100" dirty="0">
                <a:solidFill>
                  <a:srgbClr val="6C757D"/>
                </a:solidFill>
                <a:latin typeface="Arial" pitchFamily="34" charset="0"/>
                <a:ea typeface="Arial" pitchFamily="34" charset="-122"/>
                <a:cs typeface="Arial" pitchFamily="34" charset="-120"/>
              </a:rPr>
              <a:t>Google   "what is expense management"</a:t>
            </a:r>
            <a:endParaRPr lang="en-US" sz="1100" dirty="0"/>
          </a:p>
        </p:txBody>
      </p:sp>
      <p:sp>
        <p:nvSpPr>
          <p:cNvPr id="10" name="Shape 8"/>
          <p:cNvSpPr/>
          <p:nvPr/>
        </p:nvSpPr>
        <p:spPr>
          <a:xfrm>
            <a:off x="777240" y="2331720"/>
            <a:ext cx="5394960" cy="960120"/>
          </a:xfrm>
          <a:prstGeom prst="rect">
            <a:avLst/>
          </a:prstGeom>
          <a:solidFill>
            <a:srgbClr val="FFEAE1"/>
          </a:solidFill>
          <a:ln w="19050">
            <a:solidFill>
              <a:srgbClr val="F27038"/>
            </a:solidFill>
            <a:prstDash val="solid"/>
          </a:ln>
        </p:spPr>
      </p:sp>
      <p:sp>
        <p:nvSpPr>
          <p:cNvPr id="11" name="Text 9"/>
          <p:cNvSpPr/>
          <p:nvPr/>
        </p:nvSpPr>
        <p:spPr>
          <a:xfrm>
            <a:off x="914400" y="2395728"/>
            <a:ext cx="5120640" cy="841248"/>
          </a:xfrm>
          <a:prstGeom prst="rect">
            <a:avLst/>
          </a:prstGeom>
          <a:noFill/>
          <a:ln/>
        </p:spPr>
        <p:txBody>
          <a:bodyPr wrap="square" lIns="0" tIns="0" rIns="0" bIns="0" rtlCol="0" anchor="t"/>
          <a:lstStyle/>
          <a:p>
            <a:pPr indent="0" marL="0">
              <a:buNone/>
            </a:pPr>
            <a:r>
              <a:rPr lang="en-US" sz="1050" b="1" dirty="0">
                <a:solidFill>
                  <a:srgbClr val="F27038"/>
                </a:solidFill>
                <a:latin typeface="Arial" pitchFamily="34" charset="0"/>
                <a:ea typeface="Arial" pitchFamily="34" charset="-122"/>
                <a:cs typeface="Arial" pitchFamily="34" charset="-120"/>
              </a:rPr>
              <a:t>AI Overview</a:t>
            </a:r>
            <a:endParaRPr lang="en-US" sz="1050" dirty="0"/>
          </a:p>
          <a:p>
            <a:pPr indent="0" marL="0">
              <a:buNone/>
            </a:pPr>
            <a:r>
              <a:rPr lang="en-US" sz="1050" dirty="0">
                <a:solidFill>
                  <a:srgbClr val="2C2F33"/>
                </a:solidFill>
                <a:latin typeface="Arial" pitchFamily="34" charset="0"/>
                <a:ea typeface="Arial" pitchFamily="34" charset="-122"/>
                <a:cs typeface="Arial" pitchFamily="34" charset="-120"/>
              </a:rPr>
              <a:t>Expense management is the process a business uses to track, control, approve and reimburse employee spending...</a:t>
            </a:r>
            <a:endParaRPr lang="en-US" sz="1050" dirty="0"/>
          </a:p>
        </p:txBody>
      </p:sp>
      <p:sp>
        <p:nvSpPr>
          <p:cNvPr id="12" name="Shape 10"/>
          <p:cNvSpPr/>
          <p:nvPr/>
        </p:nvSpPr>
        <p:spPr>
          <a:xfrm>
            <a:off x="777240" y="3429000"/>
            <a:ext cx="5394960" cy="347472"/>
          </a:xfrm>
          <a:prstGeom prst="rect">
            <a:avLst/>
          </a:prstGeom>
          <a:solidFill>
            <a:srgbClr val="FFFFFF"/>
          </a:solidFill>
          <a:ln w="9525">
            <a:solidFill>
              <a:srgbClr val="E9EFF4"/>
            </a:solidFill>
            <a:prstDash val="solid"/>
          </a:ln>
        </p:spPr>
      </p:sp>
      <p:sp>
        <p:nvSpPr>
          <p:cNvPr id="13" name="Text 11"/>
          <p:cNvSpPr/>
          <p:nvPr/>
        </p:nvSpPr>
        <p:spPr>
          <a:xfrm>
            <a:off x="914400" y="3429000"/>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1   </a:t>
            </a:r>
            <a:pPr indent="0" marL="0">
              <a:buNone/>
            </a:pPr>
            <a:r>
              <a:rPr lang="en-US" sz="1100" b="1" dirty="0">
                <a:solidFill>
                  <a:srgbClr val="2C2F33"/>
                </a:solidFill>
                <a:latin typeface="Arial" pitchFamily="34" charset="0"/>
                <a:ea typeface="Arial" pitchFamily="34" charset="-122"/>
                <a:cs typeface="Arial" pitchFamily="34" charset="-120"/>
              </a:rPr>
              <a:t>NetSuite</a:t>
            </a:r>
            <a:pPr indent="0" marL="0">
              <a:buNone/>
            </a:pPr>
            <a:r>
              <a:rPr lang="en-US" sz="1100" dirty="0">
                <a:solidFill>
                  <a:srgbClr val="929194"/>
                </a:solidFill>
                <a:latin typeface="Arial" pitchFamily="34" charset="0"/>
                <a:ea typeface="Arial" pitchFamily="34" charset="-122"/>
                <a:cs typeface="Arial" pitchFamily="34" charset="-120"/>
              </a:rPr>
              <a:t>     updated Jul 2025</a:t>
            </a:r>
            <a:endParaRPr lang="en-US" sz="1100" dirty="0"/>
          </a:p>
        </p:txBody>
      </p:sp>
      <p:sp>
        <p:nvSpPr>
          <p:cNvPr id="14" name="Shape 12"/>
          <p:cNvSpPr/>
          <p:nvPr/>
        </p:nvSpPr>
        <p:spPr>
          <a:xfrm>
            <a:off x="777240" y="3831336"/>
            <a:ext cx="5394960" cy="347472"/>
          </a:xfrm>
          <a:prstGeom prst="rect">
            <a:avLst/>
          </a:prstGeom>
          <a:solidFill>
            <a:srgbClr val="FFFFFF"/>
          </a:solidFill>
          <a:ln w="9525">
            <a:solidFill>
              <a:srgbClr val="E9EFF4"/>
            </a:solidFill>
            <a:prstDash val="solid"/>
          </a:ln>
        </p:spPr>
      </p:sp>
      <p:sp>
        <p:nvSpPr>
          <p:cNvPr id="15" name="Text 13"/>
          <p:cNvSpPr/>
          <p:nvPr/>
        </p:nvSpPr>
        <p:spPr>
          <a:xfrm>
            <a:off x="914400" y="3831336"/>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2   </a:t>
            </a:r>
            <a:pPr indent="0" marL="0">
              <a:buNone/>
            </a:pPr>
            <a:r>
              <a:rPr lang="en-US" sz="1100" b="1" dirty="0">
                <a:solidFill>
                  <a:srgbClr val="2C2F33"/>
                </a:solidFill>
                <a:latin typeface="Arial" pitchFamily="34" charset="0"/>
                <a:ea typeface="Arial" pitchFamily="34" charset="-122"/>
                <a:cs typeface="Arial" pitchFamily="34" charset="-120"/>
              </a:rPr>
              <a:t>Medius</a:t>
            </a:r>
            <a:pPr indent="0" marL="0">
              <a:buNone/>
            </a:pPr>
            <a:endParaRPr lang="en-US" sz="1100" dirty="0"/>
          </a:p>
        </p:txBody>
      </p:sp>
      <p:sp>
        <p:nvSpPr>
          <p:cNvPr id="16" name="Shape 14"/>
          <p:cNvSpPr/>
          <p:nvPr/>
        </p:nvSpPr>
        <p:spPr>
          <a:xfrm>
            <a:off x="777240" y="4233672"/>
            <a:ext cx="5394960" cy="347472"/>
          </a:xfrm>
          <a:prstGeom prst="rect">
            <a:avLst/>
          </a:prstGeom>
          <a:solidFill>
            <a:srgbClr val="FFFFFF"/>
          </a:solidFill>
          <a:ln w="9525">
            <a:solidFill>
              <a:srgbClr val="E9EFF4"/>
            </a:solidFill>
            <a:prstDash val="solid"/>
          </a:ln>
        </p:spPr>
      </p:sp>
      <p:sp>
        <p:nvSpPr>
          <p:cNvPr id="17" name="Text 15"/>
          <p:cNvSpPr/>
          <p:nvPr/>
        </p:nvSpPr>
        <p:spPr>
          <a:xfrm>
            <a:off x="914400" y="4233672"/>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3   </a:t>
            </a:r>
            <a:pPr indent="0" marL="0">
              <a:buNone/>
            </a:pPr>
            <a:r>
              <a:rPr lang="en-US" sz="1100" b="1" dirty="0">
                <a:solidFill>
                  <a:srgbClr val="2C2F33"/>
                </a:solidFill>
                <a:latin typeface="Arial" pitchFamily="34" charset="0"/>
                <a:ea typeface="Arial" pitchFamily="34" charset="-122"/>
                <a:cs typeface="Arial" pitchFamily="34" charset="-120"/>
              </a:rPr>
              <a:t>Ramp</a:t>
            </a:r>
            <a:pPr indent="0" marL="0">
              <a:buNone/>
            </a:pPr>
            <a:r>
              <a:rPr lang="en-US" sz="1100" dirty="0">
                <a:solidFill>
                  <a:srgbClr val="929194"/>
                </a:solidFill>
                <a:latin typeface="Arial" pitchFamily="34" charset="0"/>
                <a:ea typeface="Arial" pitchFamily="34" charset="-122"/>
                <a:cs typeface="Arial" pitchFamily="34" charset="-120"/>
              </a:rPr>
              <a:t>     updated Jul 2026</a:t>
            </a:r>
            <a:endParaRPr lang="en-US" sz="1100" dirty="0"/>
          </a:p>
        </p:txBody>
      </p:sp>
      <p:sp>
        <p:nvSpPr>
          <p:cNvPr id="18" name="Shape 16"/>
          <p:cNvSpPr/>
          <p:nvPr/>
        </p:nvSpPr>
        <p:spPr>
          <a:xfrm>
            <a:off x="777240" y="4636008"/>
            <a:ext cx="5394960" cy="347472"/>
          </a:xfrm>
          <a:prstGeom prst="rect">
            <a:avLst/>
          </a:prstGeom>
          <a:solidFill>
            <a:srgbClr val="E9EFF4"/>
          </a:solidFill>
          <a:ln w="15875">
            <a:solidFill>
              <a:srgbClr val="2F343A"/>
            </a:solidFill>
            <a:prstDash val="solid"/>
          </a:ln>
        </p:spPr>
      </p:sp>
      <p:sp>
        <p:nvSpPr>
          <p:cNvPr id="19" name="Text 17"/>
          <p:cNvSpPr/>
          <p:nvPr/>
        </p:nvSpPr>
        <p:spPr>
          <a:xfrm>
            <a:off x="914400" y="4636008"/>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4   </a:t>
            </a:r>
            <a:pPr indent="0" marL="0">
              <a:buNone/>
            </a:pPr>
            <a:r>
              <a:rPr lang="en-US" sz="1100" b="1" dirty="0">
                <a:solidFill>
                  <a:srgbClr val="2F343A"/>
                </a:solidFill>
                <a:latin typeface="Arial" pitchFamily="34" charset="0"/>
                <a:ea typeface="Arial" pitchFamily="34" charset="-122"/>
                <a:cs typeface="Arial" pitchFamily="34" charset="-120"/>
              </a:rPr>
              <a:t>Your page</a:t>
            </a:r>
            <a:pPr indent="0" marL="0">
              <a:buNone/>
            </a:pPr>
            <a:r>
              <a:rPr lang="en-US" sz="1100" dirty="0">
                <a:solidFill>
                  <a:srgbClr val="F27038"/>
                </a:solidFill>
                <a:latin typeface="Arial" pitchFamily="34" charset="0"/>
                <a:ea typeface="Arial" pitchFamily="34" charset="-122"/>
                <a:cs typeface="Arial" pitchFamily="34" charset="-120"/>
              </a:rPr>
              <a:t>     last updated Jan 2024</a:t>
            </a:r>
            <a:endParaRPr lang="en-US" sz="1100" dirty="0"/>
          </a:p>
        </p:txBody>
      </p:sp>
      <p:sp>
        <p:nvSpPr>
          <p:cNvPr id="20" name="Shape 18"/>
          <p:cNvSpPr/>
          <p:nvPr/>
        </p:nvSpPr>
        <p:spPr>
          <a:xfrm>
            <a:off x="777240" y="5038344"/>
            <a:ext cx="5394960" cy="347472"/>
          </a:xfrm>
          <a:prstGeom prst="rect">
            <a:avLst/>
          </a:prstGeom>
          <a:solidFill>
            <a:srgbClr val="FFFFFF"/>
          </a:solidFill>
          <a:ln w="9525">
            <a:solidFill>
              <a:srgbClr val="E9EFF4"/>
            </a:solidFill>
            <a:prstDash val="solid"/>
          </a:ln>
        </p:spPr>
      </p:sp>
      <p:sp>
        <p:nvSpPr>
          <p:cNvPr id="21" name="Text 19"/>
          <p:cNvSpPr/>
          <p:nvPr/>
        </p:nvSpPr>
        <p:spPr>
          <a:xfrm>
            <a:off x="914400" y="5038344"/>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5   </a:t>
            </a:r>
            <a:pPr indent="0" marL="0">
              <a:buNone/>
            </a:pPr>
            <a:r>
              <a:rPr lang="en-US" sz="1100" b="1" dirty="0">
                <a:solidFill>
                  <a:srgbClr val="2C2F33"/>
                </a:solidFill>
                <a:latin typeface="Arial" pitchFamily="34" charset="0"/>
                <a:ea typeface="Arial" pitchFamily="34" charset="-122"/>
                <a:cs typeface="Arial" pitchFamily="34" charset="-120"/>
              </a:rPr>
              <a:t>Airwallex</a:t>
            </a:r>
            <a:pPr indent="0" marL="0">
              <a:buNone/>
            </a:pPr>
            <a:r>
              <a:rPr lang="en-US" sz="1100" dirty="0">
                <a:solidFill>
                  <a:srgbClr val="929194"/>
                </a:solidFill>
                <a:latin typeface="Arial" pitchFamily="34" charset="0"/>
                <a:ea typeface="Arial" pitchFamily="34" charset="-122"/>
                <a:cs typeface="Arial" pitchFamily="34" charset="-120"/>
              </a:rPr>
              <a:t>     updated May 2026</a:t>
            </a:r>
            <a:endParaRPr lang="en-US" sz="1100" dirty="0"/>
          </a:p>
        </p:txBody>
      </p:sp>
      <p:sp>
        <p:nvSpPr>
          <p:cNvPr id="22" name="Shape 20"/>
          <p:cNvSpPr/>
          <p:nvPr/>
        </p:nvSpPr>
        <p:spPr>
          <a:xfrm>
            <a:off x="6766560" y="1828800"/>
            <a:ext cx="4846320" cy="1143000"/>
          </a:xfrm>
          <a:prstGeom prst="rect">
            <a:avLst/>
          </a:prstGeom>
          <a:solidFill>
            <a:srgbClr val="2F343A"/>
          </a:solidFill>
          <a:ln w="12700">
            <a:solidFill>
              <a:srgbClr val="2F343A"/>
            </a:solidFill>
            <a:prstDash val="solid"/>
          </a:ln>
        </p:spPr>
      </p:sp>
      <p:sp>
        <p:nvSpPr>
          <p:cNvPr id="23" name="Text 21"/>
          <p:cNvSpPr/>
          <p:nvPr/>
        </p:nvSpPr>
        <p:spPr>
          <a:xfrm>
            <a:off x="6949440" y="1938528"/>
            <a:ext cx="4480560" cy="5715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 of 5</a:t>
            </a:r>
            <a:endParaRPr lang="en-US" sz="3000" dirty="0"/>
          </a:p>
        </p:txBody>
      </p:sp>
      <p:sp>
        <p:nvSpPr>
          <p:cNvPr id="24" name="Text 22"/>
          <p:cNvSpPr/>
          <p:nvPr/>
        </p:nvSpPr>
        <p:spPr>
          <a:xfrm>
            <a:off x="6949440" y="2457450"/>
            <a:ext cx="4480560" cy="457200"/>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of your key searches now show an AI answer above the first result</a:t>
            </a:r>
            <a:endParaRPr lang="en-US" sz="1150" dirty="0"/>
          </a:p>
        </p:txBody>
      </p:sp>
      <p:sp>
        <p:nvSpPr>
          <p:cNvPr id="25" name="Shape 23"/>
          <p:cNvSpPr/>
          <p:nvPr/>
        </p:nvSpPr>
        <p:spPr>
          <a:xfrm>
            <a:off x="6766560" y="3108960"/>
            <a:ext cx="4846320" cy="1143000"/>
          </a:xfrm>
          <a:prstGeom prst="rect">
            <a:avLst/>
          </a:prstGeom>
          <a:solidFill>
            <a:srgbClr val="F8F8F8"/>
          </a:solidFill>
          <a:ln w="12700">
            <a:solidFill>
              <a:srgbClr val="E9EFF4"/>
            </a:solidFill>
            <a:prstDash val="solid"/>
          </a:ln>
        </p:spPr>
      </p:sp>
      <p:sp>
        <p:nvSpPr>
          <p:cNvPr id="26" name="Text 24"/>
          <p:cNvSpPr/>
          <p:nvPr/>
        </p:nvSpPr>
        <p:spPr>
          <a:xfrm>
            <a:off x="6949440" y="3218688"/>
            <a:ext cx="4480560" cy="57150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58% fewer clicks</a:t>
            </a:r>
            <a:endParaRPr lang="en-US" sz="3000" dirty="0"/>
          </a:p>
        </p:txBody>
      </p:sp>
      <p:sp>
        <p:nvSpPr>
          <p:cNvPr id="27" name="Text 25"/>
          <p:cNvSpPr/>
          <p:nvPr/>
        </p:nvSpPr>
        <p:spPr>
          <a:xfrm>
            <a:off x="6949440" y="3737610"/>
            <a:ext cx="4480560" cy="457200"/>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to the #1 result when an AI answer is present (industry benchmark)</a:t>
            </a:r>
            <a:endParaRPr lang="en-US" sz="1150" dirty="0"/>
          </a:p>
        </p:txBody>
      </p:sp>
      <p:sp>
        <p:nvSpPr>
          <p:cNvPr id="28" name="Text 26"/>
          <p:cNvSpPr/>
          <p:nvPr/>
        </p:nvSpPr>
        <p:spPr>
          <a:xfrm>
            <a:off x="6766560" y="4389120"/>
            <a:ext cx="4846320" cy="1097280"/>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Your biggest page used to get 14,100 visits a month at #1. Even back at #1, with the AI answer sitting on top, it will not get there again. The recovery has to come from more pages, not from one page returning to its old number.</a:t>
            </a:r>
            <a:endParaRPr lang="en-US" sz="1150" dirty="0"/>
          </a:p>
        </p:txBody>
      </p:sp>
      <p:sp>
        <p:nvSpPr>
          <p:cNvPr id="29" name="Shape 27"/>
          <p:cNvSpPr/>
          <p:nvPr/>
        </p:nvSpPr>
        <p:spPr>
          <a:xfrm>
            <a:off x="548640" y="5623560"/>
            <a:ext cx="11064240" cy="566928"/>
          </a:xfrm>
          <a:prstGeom prst="rect">
            <a:avLst/>
          </a:prstGeom>
          <a:solidFill>
            <a:srgbClr val="E9EFF4"/>
          </a:solidFill>
          <a:ln w="12700">
            <a:solidFill>
              <a:srgbClr val="E9EFF4"/>
            </a:solidFill>
            <a:prstDash val="solid"/>
          </a:ln>
        </p:spPr>
      </p:sp>
      <p:sp>
        <p:nvSpPr>
          <p:cNvPr id="30" name="Shape 28"/>
          <p:cNvSpPr/>
          <p:nvPr/>
        </p:nvSpPr>
        <p:spPr>
          <a:xfrm>
            <a:off x="548640" y="5623560"/>
            <a:ext cx="82296" cy="566928"/>
          </a:xfrm>
          <a:prstGeom prst="rect">
            <a:avLst/>
          </a:prstGeom>
          <a:solidFill>
            <a:srgbClr val="F27038"/>
          </a:solidFill>
          <a:ln w="12700">
            <a:solidFill>
              <a:srgbClr val="F27038"/>
            </a:solidFill>
            <a:prstDash val="solid"/>
          </a:ln>
        </p:spPr>
      </p:sp>
      <p:sp>
        <p:nvSpPr>
          <p:cNvPr id="31" name="Text 2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This is the single biggest reason a target of "back to 140K visits" is the wrong promise. The page has changed under everyone, including Ramp.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IT IS NOT</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This is not a Google penalty and not a shortage of links. Your best-linked pages fell too.</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6</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sites linking to each page (referring domains) and ranking change, your 18 biggest pages</a:t>
            </a:r>
            <a:endParaRPr lang="en-US" sz="850" dirty="0"/>
          </a:p>
        </p:txBody>
      </p:sp>
      <p:graphicFrame>
        <p:nvGraphicFramePr>
          <p:cNvPr id="8" name="Chart 0" descr=""/>
          <p:cNvGraphicFramePr/>
          <p:nvPr/>
        </p:nvGraphicFramePr>
        <p:xfrm>
          <a:off x="548640" y="1828800"/>
          <a:ext cx="6949440" cy="36118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7772400" y="1920240"/>
            <a:ext cx="384048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Three signs this is not a penalty</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5 of your 18 top pages, on the same site and template, held or grew. A penalty drags everything down.</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four pages with the most links all fell. The two that grew have far fewer. Links did not decide this.</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drops match page age, not link counts.</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spcAft>
                <a:spcPts val="400"/>
              </a:spcAft>
              <a:buNone/>
            </a:pPr>
            <a:r>
              <a:rPr lang="en-US" sz="1150" dirty="0">
                <a:solidFill>
                  <a:srgbClr val="6C757D"/>
                </a:solidFill>
                <a:latin typeface="Arial" pitchFamily="34" charset="0"/>
                <a:ea typeface="Arial" pitchFamily="34" charset="-122"/>
                <a:cs typeface="Arial" pitchFamily="34" charset="-120"/>
              </a:rPr>
              <a:t>We will still run a full check of your link profile in week one. If anything looks manufactured, we deal with it first. We do not expect to find it.</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Buying or chasing links would be money spent on the wrong problem. The fix is the content and the pages themselves.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REAL QUESTION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Almost half of the lost visits came from pages that have never produced a lead.</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7</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leads (conversions) in the last 90 days by page, your 18 biggest pages</a:t>
            </a:r>
            <a:endParaRPr lang="en-US" sz="850" dirty="0"/>
          </a:p>
        </p:txBody>
      </p:sp>
      <p:graphicFrame>
        <p:nvGraphicFramePr>
          <p:cNvPr id="8" name="Chart 0" descr=""/>
          <p:cNvGraphicFramePr/>
          <p:nvPr/>
        </p:nvGraphicFramePr>
        <p:xfrm>
          <a:off x="548640" y="1828800"/>
          <a:ext cx="6949440" cy="18288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48640" y="3931920"/>
            <a:ext cx="3291840" cy="1463040"/>
          </a:xfrm>
          <a:prstGeom prst="rect">
            <a:avLst/>
          </a:prstGeom>
          <a:solidFill>
            <a:srgbClr val="F8F8F8"/>
          </a:solidFill>
          <a:ln w="12700">
            <a:solidFill>
              <a:srgbClr val="E9EFF4"/>
            </a:solidFill>
            <a:prstDash val="solid"/>
          </a:ln>
        </p:spPr>
      </p:sp>
      <p:sp>
        <p:nvSpPr>
          <p:cNvPr id="10" name="Text 7"/>
          <p:cNvSpPr/>
          <p:nvPr/>
        </p:nvSpPr>
        <p:spPr>
          <a:xfrm>
            <a:off x="731520" y="4041648"/>
            <a:ext cx="29260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46%</a:t>
            </a:r>
            <a:endParaRPr lang="en-US" sz="3000" dirty="0"/>
          </a:p>
        </p:txBody>
      </p:sp>
      <p:sp>
        <p:nvSpPr>
          <p:cNvPr id="11" name="Text 8"/>
          <p:cNvSpPr/>
          <p:nvPr/>
        </p:nvSpPr>
        <p:spPr>
          <a:xfrm>
            <a:off x="731520" y="4736592"/>
            <a:ext cx="29260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of lost visits were on pages with zero leads in 90 days</a:t>
            </a:r>
            <a:endParaRPr lang="en-US" sz="1150" dirty="0"/>
          </a:p>
        </p:txBody>
      </p:sp>
      <p:sp>
        <p:nvSpPr>
          <p:cNvPr id="12" name="Shape 9"/>
          <p:cNvSpPr/>
          <p:nvPr/>
        </p:nvSpPr>
        <p:spPr>
          <a:xfrm>
            <a:off x="4023360" y="3931920"/>
            <a:ext cx="3474720" cy="1463040"/>
          </a:xfrm>
          <a:prstGeom prst="rect">
            <a:avLst/>
          </a:prstGeom>
          <a:solidFill>
            <a:srgbClr val="2F343A"/>
          </a:solidFill>
          <a:ln w="12700">
            <a:solidFill>
              <a:srgbClr val="2F343A"/>
            </a:solidFill>
            <a:prstDash val="solid"/>
          </a:ln>
        </p:spPr>
      </p:sp>
      <p:sp>
        <p:nvSpPr>
          <p:cNvPr id="13" name="Text 10"/>
          <p:cNvSpPr/>
          <p:nvPr/>
        </p:nvSpPr>
        <p:spPr>
          <a:xfrm>
            <a:off x="4206240" y="4041648"/>
            <a:ext cx="310896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 pages</a:t>
            </a:r>
            <a:endParaRPr lang="en-US" sz="3000" dirty="0"/>
          </a:p>
        </p:txBody>
      </p:sp>
      <p:sp>
        <p:nvSpPr>
          <p:cNvPr id="14" name="Text 11"/>
          <p:cNvSpPr/>
          <p:nvPr/>
        </p:nvSpPr>
        <p:spPr>
          <a:xfrm>
            <a:off x="4206240" y="4736592"/>
            <a:ext cx="310896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produce 77.5% of all your leads from search</a:t>
            </a:r>
            <a:endParaRPr lang="en-US" sz="1150" dirty="0"/>
          </a:p>
        </p:txBody>
      </p:sp>
      <p:sp>
        <p:nvSpPr>
          <p:cNvPr id="15" name="Text 12"/>
          <p:cNvSpPr/>
          <p:nvPr/>
        </p:nvSpPr>
        <p:spPr>
          <a:xfrm>
            <a:off x="7772400" y="1920240"/>
            <a:ext cx="3840480" cy="3566160"/>
          </a:xfrm>
          <a:prstGeom prst="rect">
            <a:avLst/>
          </a:prstGeom>
          <a:noFill/>
          <a:ln/>
        </p:spPr>
        <p:txBody>
          <a:bodyPr wrap="square" lIns="0" tIns="0" rIns="0" bIns="0" rtlCol="0" anchor="t"/>
          <a:lstStyle/>
          <a:p>
            <a:pPr indent="0" marL="0">
              <a:buNone/>
            </a:pPr>
            <a:r>
              <a:rPr lang="en-US" sz="1400" b="1" dirty="0">
                <a:solidFill>
                  <a:srgbClr val="2F343A"/>
                </a:solidFill>
                <a:latin typeface="Arial" pitchFamily="34" charset="0"/>
                <a:ea typeface="Arial" pitchFamily="34" charset="-122"/>
                <a:cs typeface="Arial" pitchFamily="34" charset="-120"/>
              </a:rPr>
              <a:t>Example</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Your "per diem rates 2022" page used to bring 7,800 visits a month. It brought zero leads. Winning that traffic back would make the traffic chart look better and change nothing for sales.</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Your "vs Ramp" comparison page brings 1,100 visits a month and 44 leads. It is the most valuable page on the site and it has slipped from 6th to 11th.</a:t>
            </a:r>
            <a:endParaRPr lang="en-US" sz="1150" dirty="0"/>
          </a:p>
        </p:txBody>
      </p:sp>
      <p:sp>
        <p:nvSpPr>
          <p:cNvPr id="16" name="Shape 13"/>
          <p:cNvSpPr/>
          <p:nvPr/>
        </p:nvSpPr>
        <p:spPr>
          <a:xfrm>
            <a:off x="548640" y="5623560"/>
            <a:ext cx="11064240" cy="566928"/>
          </a:xfrm>
          <a:prstGeom prst="rect">
            <a:avLst/>
          </a:prstGeom>
          <a:solidFill>
            <a:srgbClr val="E9EFF4"/>
          </a:solidFill>
          <a:ln w="12700">
            <a:solidFill>
              <a:srgbClr val="E9EFF4"/>
            </a:solidFill>
            <a:prstDash val="solid"/>
          </a:ln>
        </p:spPr>
      </p:sp>
      <p:sp>
        <p:nvSpPr>
          <p:cNvPr id="17" name="Shape 14"/>
          <p:cNvSpPr/>
          <p:nvPr/>
        </p:nvSpPr>
        <p:spPr>
          <a:xfrm>
            <a:off x="548640" y="5623560"/>
            <a:ext cx="82296" cy="566928"/>
          </a:xfrm>
          <a:prstGeom prst="rect">
            <a:avLst/>
          </a:prstGeom>
          <a:solidFill>
            <a:srgbClr val="F27038"/>
          </a:solidFill>
          <a:ln w="12700">
            <a:solidFill>
              <a:srgbClr val="F27038"/>
            </a:solidFill>
            <a:prstDash val="solid"/>
          </a:ln>
        </p:spPr>
      </p:sp>
      <p:sp>
        <p:nvSpPr>
          <p:cNvPr id="18" name="Text 15"/>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Chasing the old traffic number means spending the budget on pages that never paid. We would rather spend it on the ones that do.</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REAL QUESTION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Comparison pages turn visitors into leads about 7 times better than your site average.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8</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leads in the last 90 days per 1,000 visits, grouped by topic. Site average across the 18 pages: 1.85.</a:t>
            </a:r>
            <a:endParaRPr lang="en-US" sz="850" dirty="0"/>
          </a:p>
        </p:txBody>
      </p:sp>
      <p:graphicFrame>
        <p:nvGraphicFramePr>
          <p:cNvPr id="8" name="Chart 0" descr=""/>
          <p:cNvGraphicFramePr/>
          <p:nvPr/>
        </p:nvGraphicFramePr>
        <p:xfrm>
          <a:off x="548640" y="1828800"/>
          <a:ext cx="749808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321040" y="1920240"/>
            <a:ext cx="329184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What this means for the plan</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comparison pages are small in traffic and huge in leads. They get fixed first.</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big guides still matter: they hold most of your authority and feed the comparison pages. They get refreshed, not abandoned.</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rates, deadlines and off-topic pages get tidied up and no new investment.</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One caveat we will close in week one: a lead is only worth counting if sales can use it. We need your CRM data to confirm which pages bring the good ones.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PROPOSAL</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Measure what reaches sales, not what reaches the site.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9</a:t>
            </a:r>
            <a:endParaRPr lang="en-US" sz="1000" dirty="0"/>
          </a:p>
        </p:txBody>
      </p:sp>
      <p:sp>
        <p:nvSpPr>
          <p:cNvPr id="7" name="Shape 5"/>
          <p:cNvSpPr/>
          <p:nvPr/>
        </p:nvSpPr>
        <p:spPr>
          <a:xfrm>
            <a:off x="548640" y="1828800"/>
            <a:ext cx="5303520" cy="3611880"/>
          </a:xfrm>
          <a:prstGeom prst="rect">
            <a:avLst/>
          </a:prstGeom>
          <a:solidFill>
            <a:srgbClr val="F8F8F8"/>
          </a:solidFill>
          <a:ln w="12700">
            <a:solidFill>
              <a:srgbClr val="E9EFF4"/>
            </a:solidFill>
            <a:prstDash val="solid"/>
          </a:ln>
        </p:spPr>
      </p:sp>
      <p:sp>
        <p:nvSpPr>
          <p:cNvPr id="8" name="Text 6"/>
          <p:cNvSpPr/>
          <p:nvPr/>
        </p:nvSpPr>
        <p:spPr>
          <a:xfrm>
            <a:off x="822960" y="2011680"/>
            <a:ext cx="4754880" cy="274320"/>
          </a:xfrm>
          <a:prstGeom prst="rect">
            <a:avLst/>
          </a:prstGeom>
          <a:noFill/>
          <a:ln/>
        </p:spPr>
        <p:txBody>
          <a:bodyPr wrap="square" lIns="0" tIns="0" rIns="0" bIns="0" rtlCol="0" anchor="ctr"/>
          <a:lstStyle/>
          <a:p>
            <a:pPr indent="0" marL="0">
              <a:buNone/>
            </a:pPr>
            <a:r>
              <a:rPr lang="en-US" sz="1100" b="1" spc="200" kern="0" dirty="0">
                <a:solidFill>
                  <a:srgbClr val="929194"/>
                </a:solidFill>
                <a:latin typeface="Arial" pitchFamily="34" charset="0"/>
                <a:ea typeface="Arial" pitchFamily="34" charset="-122"/>
                <a:cs typeface="Arial" pitchFamily="34" charset="-120"/>
              </a:rPr>
              <a:t>TODAY'S TARGET</a:t>
            </a:r>
            <a:endParaRPr lang="en-US" sz="1100" dirty="0"/>
          </a:p>
        </p:txBody>
      </p:sp>
      <p:sp>
        <p:nvSpPr>
          <p:cNvPr id="9" name="Text 7"/>
          <p:cNvSpPr/>
          <p:nvPr/>
        </p:nvSpPr>
        <p:spPr>
          <a:xfrm>
            <a:off x="822960" y="2331720"/>
            <a:ext cx="4754880" cy="731520"/>
          </a:xfrm>
          <a:prstGeom prst="rect">
            <a:avLst/>
          </a:prstGeom>
          <a:noFill/>
          <a:ln/>
        </p:spPr>
        <p:txBody>
          <a:bodyPr wrap="square" lIns="0" tIns="0" rIns="0" bIns="0" rtlCol="0" anchor="t"/>
          <a:lstStyle/>
          <a:p>
            <a:pPr indent="0" marL="0">
              <a:buNone/>
            </a:pPr>
            <a:r>
              <a:rPr lang="en-US" sz="2200" b="1" dirty="0">
                <a:solidFill>
                  <a:srgbClr val="2F343A"/>
                </a:solidFill>
                <a:latin typeface="Arial" pitchFamily="34" charset="0"/>
                <a:ea typeface="Arial" pitchFamily="34" charset="-122"/>
                <a:cs typeface="Arial" pitchFamily="34" charset="-120"/>
              </a:rPr>
              <a:t>Back to 140,000 visits a month</a:t>
            </a:r>
            <a:endParaRPr lang="en-US" sz="2200" dirty="0"/>
          </a:p>
        </p:txBody>
      </p:sp>
      <p:sp>
        <p:nvSpPr>
          <p:cNvPr id="10" name="Text 8"/>
          <p:cNvSpPr/>
          <p:nvPr/>
        </p:nvSpPr>
        <p:spPr>
          <a:xfrm>
            <a:off x="822960" y="3154680"/>
            <a:ext cx="475488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The number has no stated source. If it came from a ranking tool it is an estimate, not real visits.</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46% of what was lost never produced a lead.</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The AI answer on your biggest searches means the old pages cannot return to their old numbers.</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Hitting it would prove traffic went up. It would not prove the business got anything.</a:t>
            </a:r>
            <a:endParaRPr lang="en-US" sz="1150" dirty="0"/>
          </a:p>
        </p:txBody>
      </p:sp>
      <p:sp>
        <p:nvSpPr>
          <p:cNvPr id="11" name="Shape 9"/>
          <p:cNvSpPr/>
          <p:nvPr/>
        </p:nvSpPr>
        <p:spPr>
          <a:xfrm>
            <a:off x="6309360" y="1828800"/>
            <a:ext cx="5303520" cy="3611880"/>
          </a:xfrm>
          <a:prstGeom prst="rect">
            <a:avLst/>
          </a:prstGeom>
          <a:solidFill>
            <a:srgbClr val="2F343A"/>
          </a:solidFill>
          <a:ln w="12700">
            <a:solidFill>
              <a:srgbClr val="2F343A"/>
            </a:solidFill>
            <a:prstDash val="solid"/>
          </a:ln>
        </p:spPr>
      </p:sp>
      <p:sp>
        <p:nvSpPr>
          <p:cNvPr id="12" name="Shape 10"/>
          <p:cNvSpPr/>
          <p:nvPr/>
        </p:nvSpPr>
        <p:spPr>
          <a:xfrm>
            <a:off x="6309360" y="1828800"/>
            <a:ext cx="5303520" cy="73152"/>
          </a:xfrm>
          <a:prstGeom prst="rect">
            <a:avLst/>
          </a:prstGeom>
          <a:solidFill>
            <a:srgbClr val="F27038"/>
          </a:solidFill>
          <a:ln w="12700">
            <a:solidFill>
              <a:srgbClr val="F27038"/>
            </a:solidFill>
            <a:prstDash val="solid"/>
          </a:ln>
        </p:spPr>
      </p:sp>
      <p:sp>
        <p:nvSpPr>
          <p:cNvPr id="13" name="Text 11"/>
          <p:cNvSpPr/>
          <p:nvPr/>
        </p:nvSpPr>
        <p:spPr>
          <a:xfrm>
            <a:off x="6583680" y="2011680"/>
            <a:ext cx="475488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WE PROPOSE</a:t>
            </a:r>
            <a:endParaRPr lang="en-US" sz="1100" dirty="0"/>
          </a:p>
        </p:txBody>
      </p:sp>
      <p:sp>
        <p:nvSpPr>
          <p:cNvPr id="14" name="Text 12"/>
          <p:cNvSpPr/>
          <p:nvPr/>
        </p:nvSpPr>
        <p:spPr>
          <a:xfrm>
            <a:off x="6583680" y="2331720"/>
            <a:ext cx="4754880" cy="73152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Qualified leads from search, by page, with pipeline value</a:t>
            </a:r>
            <a:endParaRPr lang="en-US" sz="2200" dirty="0"/>
          </a:p>
        </p:txBody>
      </p:sp>
      <p:sp>
        <p:nvSpPr>
          <p:cNvPr id="15" name="Text 13"/>
          <p:cNvSpPr/>
          <p:nvPr/>
        </p:nvSpPr>
        <p:spPr>
          <a:xfrm>
            <a:off x="6583680" y="3154680"/>
            <a:ext cx="475488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Counted from your own analytics and CRM, not a third-party estimate.</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Only leads that sales accepts count. A download is not a lead.</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Reported by page, so we know which content pays and double down on it.</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Traffic stays on the dashboard as a health check, split into branded and non-branded.</a:t>
            </a:r>
            <a:endParaRPr lang="en-US" sz="1150" dirty="0"/>
          </a:p>
        </p:txBody>
      </p:sp>
      <p:sp>
        <p:nvSpPr>
          <p:cNvPr id="16" name="Shape 14"/>
          <p:cNvSpPr/>
          <p:nvPr/>
        </p:nvSpPr>
        <p:spPr>
          <a:xfrm>
            <a:off x="548640" y="5623560"/>
            <a:ext cx="11064240" cy="566928"/>
          </a:xfrm>
          <a:prstGeom prst="rect">
            <a:avLst/>
          </a:prstGeom>
          <a:solidFill>
            <a:srgbClr val="E9EFF4"/>
          </a:solidFill>
          <a:ln w="12700">
            <a:solidFill>
              <a:srgbClr val="E9EFF4"/>
            </a:solidFill>
            <a:prstDash val="solid"/>
          </a:ln>
        </p:spPr>
      </p:sp>
      <p:sp>
        <p:nvSpPr>
          <p:cNvPr id="17" name="Shape 15"/>
          <p:cNvSpPr/>
          <p:nvPr/>
        </p:nvSpPr>
        <p:spPr>
          <a:xfrm>
            <a:off x="548640" y="5623560"/>
            <a:ext cx="82296" cy="566928"/>
          </a:xfrm>
          <a:prstGeom prst="rect">
            <a:avLst/>
          </a:prstGeom>
          <a:solidFill>
            <a:srgbClr val="F27038"/>
          </a:solidFill>
          <a:ln w="12700">
            <a:solidFill>
              <a:srgbClr val="F27038"/>
            </a:solidFill>
            <a:prstDash val="solid"/>
          </a:ln>
        </p:spPr>
      </p:sp>
      <p:sp>
        <p:nvSpPr>
          <p:cNvPr id="18" name="Text 16"/>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Our 12-month commitment is to roughly double qualified leads from search. Traffic will recover too, and we will say exactly how far on slide 12.</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PLAN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Four moves, in this order. The first one starts in week 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10</a:t>
            </a:r>
            <a:endParaRPr lang="en-US" sz="1000" dirty="0"/>
          </a:p>
        </p:txBody>
      </p:sp>
      <p:sp>
        <p:nvSpPr>
          <p:cNvPr id="7" name="Shape 5"/>
          <p:cNvSpPr/>
          <p:nvPr/>
        </p:nvSpPr>
        <p:spPr>
          <a:xfrm>
            <a:off x="548640" y="1828800"/>
            <a:ext cx="2651760" cy="2514600"/>
          </a:xfrm>
          <a:prstGeom prst="rect">
            <a:avLst/>
          </a:prstGeom>
          <a:solidFill>
            <a:srgbClr val="F8F8F8"/>
          </a:solidFill>
          <a:ln w="12700">
            <a:solidFill>
              <a:srgbClr val="E9EFF4"/>
            </a:solidFill>
            <a:prstDash val="solid"/>
          </a:ln>
        </p:spPr>
      </p:sp>
      <p:sp>
        <p:nvSpPr>
          <p:cNvPr id="8" name="Shape 6"/>
          <p:cNvSpPr/>
          <p:nvPr/>
        </p:nvSpPr>
        <p:spPr>
          <a:xfrm>
            <a:off x="548640" y="1828800"/>
            <a:ext cx="2651760" cy="73152"/>
          </a:xfrm>
          <a:prstGeom prst="rect">
            <a:avLst/>
          </a:prstGeom>
          <a:solidFill>
            <a:srgbClr val="F27038"/>
          </a:solidFill>
          <a:ln w="12700">
            <a:solidFill>
              <a:srgbClr val="F27038"/>
            </a:solidFill>
            <a:prstDash val="solid"/>
          </a:ln>
        </p:spPr>
      </p:sp>
      <p:sp>
        <p:nvSpPr>
          <p:cNvPr id="9" name="Text 7"/>
          <p:cNvSpPr/>
          <p:nvPr/>
        </p:nvSpPr>
        <p:spPr>
          <a:xfrm>
            <a:off x="749808"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1. Fix the pages that make money</a:t>
            </a:r>
            <a:endParaRPr lang="en-US" sz="1500" dirty="0"/>
          </a:p>
        </p:txBody>
      </p:sp>
      <p:sp>
        <p:nvSpPr>
          <p:cNvPr id="10" name="Text 8"/>
          <p:cNvSpPr/>
          <p:nvPr/>
        </p:nvSpPr>
        <p:spPr>
          <a:xfrm>
            <a:off x="749808"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Rebuild the "vs Ramp" comparison with a proper side-by-side table and a clear next step. Bring the "vs Brex" page to the same standard. Point your strongest pages at them.</a:t>
            </a:r>
            <a:endParaRPr lang="en-US" sz="1150" dirty="0"/>
          </a:p>
        </p:txBody>
      </p:sp>
      <p:sp>
        <p:nvSpPr>
          <p:cNvPr id="11" name="Shape 9"/>
          <p:cNvSpPr/>
          <p:nvPr/>
        </p:nvSpPr>
        <p:spPr>
          <a:xfrm>
            <a:off x="3355848" y="1828800"/>
            <a:ext cx="2651760" cy="2514600"/>
          </a:xfrm>
          <a:prstGeom prst="rect">
            <a:avLst/>
          </a:prstGeom>
          <a:solidFill>
            <a:srgbClr val="F8F8F8"/>
          </a:solidFill>
          <a:ln w="12700">
            <a:solidFill>
              <a:srgbClr val="E9EFF4"/>
            </a:solidFill>
            <a:prstDash val="solid"/>
          </a:ln>
        </p:spPr>
      </p:sp>
      <p:sp>
        <p:nvSpPr>
          <p:cNvPr id="12" name="Shape 10"/>
          <p:cNvSpPr/>
          <p:nvPr/>
        </p:nvSpPr>
        <p:spPr>
          <a:xfrm>
            <a:off x="3355848" y="1828800"/>
            <a:ext cx="2651760" cy="73152"/>
          </a:xfrm>
          <a:prstGeom prst="rect">
            <a:avLst/>
          </a:prstGeom>
          <a:solidFill>
            <a:srgbClr val="2F343A"/>
          </a:solidFill>
          <a:ln w="12700">
            <a:solidFill>
              <a:srgbClr val="2F343A"/>
            </a:solidFill>
            <a:prstDash val="solid"/>
          </a:ln>
        </p:spPr>
      </p:sp>
      <p:sp>
        <p:nvSpPr>
          <p:cNvPr id="13" name="Text 11"/>
          <p:cNvSpPr/>
          <p:nvPr/>
        </p:nvSpPr>
        <p:spPr>
          <a:xfrm>
            <a:off x="3557016"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2. Refresh what is old</a:t>
            </a:r>
            <a:endParaRPr lang="en-US" sz="1500" dirty="0"/>
          </a:p>
        </p:txBody>
      </p:sp>
      <p:sp>
        <p:nvSpPr>
          <p:cNvPr id="14" name="Text 12"/>
          <p:cNvSpPr/>
          <p:nvPr/>
        </p:nvSpPr>
        <p:spPr>
          <a:xfrm>
            <a:off x="3557016"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Rewrite the big guides for 2026 with the current rules and a short, quotable answer at the top so Google's AI answer can cite you. Then work through the rest of the 400 posts, oldest and most valuable first.</a:t>
            </a:r>
            <a:endParaRPr lang="en-US" sz="1150" dirty="0"/>
          </a:p>
        </p:txBody>
      </p:sp>
      <p:sp>
        <p:nvSpPr>
          <p:cNvPr id="15" name="Shape 13"/>
          <p:cNvSpPr/>
          <p:nvPr/>
        </p:nvSpPr>
        <p:spPr>
          <a:xfrm>
            <a:off x="6163056" y="1828800"/>
            <a:ext cx="2651760" cy="2514600"/>
          </a:xfrm>
          <a:prstGeom prst="rect">
            <a:avLst/>
          </a:prstGeom>
          <a:solidFill>
            <a:srgbClr val="F8F8F8"/>
          </a:solidFill>
          <a:ln w="12700">
            <a:solidFill>
              <a:srgbClr val="E9EFF4"/>
            </a:solidFill>
            <a:prstDash val="solid"/>
          </a:ln>
        </p:spPr>
      </p:sp>
      <p:sp>
        <p:nvSpPr>
          <p:cNvPr id="16" name="Shape 14"/>
          <p:cNvSpPr/>
          <p:nvPr/>
        </p:nvSpPr>
        <p:spPr>
          <a:xfrm>
            <a:off x="6163056" y="1828800"/>
            <a:ext cx="2651760" cy="73152"/>
          </a:xfrm>
          <a:prstGeom prst="rect">
            <a:avLst/>
          </a:prstGeom>
          <a:solidFill>
            <a:srgbClr val="2F343A"/>
          </a:solidFill>
          <a:ln w="12700">
            <a:solidFill>
              <a:srgbClr val="2F343A"/>
            </a:solidFill>
            <a:prstDash val="solid"/>
          </a:ln>
        </p:spPr>
      </p:sp>
      <p:sp>
        <p:nvSpPr>
          <p:cNvPr id="17" name="Text 15"/>
          <p:cNvSpPr/>
          <p:nvPr/>
        </p:nvSpPr>
        <p:spPr>
          <a:xfrm>
            <a:off x="6364224"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3. Retire what is dead</a:t>
            </a:r>
            <a:endParaRPr lang="en-US" sz="1500" dirty="0"/>
          </a:p>
        </p:txBody>
      </p:sp>
      <p:sp>
        <p:nvSpPr>
          <p:cNvPr id="18" name="Text 16"/>
          <p:cNvSpPr/>
          <p:nvPr/>
        </p:nvSpPr>
        <p:spPr>
          <a:xfrm>
            <a:off x="6364224"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Redirect the two expired dated pages to permanent versions. Remove the off-topic pages. Merge the two pages competing for the same search into one.</a:t>
            </a:r>
            <a:endParaRPr lang="en-US" sz="1150" dirty="0"/>
          </a:p>
        </p:txBody>
      </p:sp>
      <p:sp>
        <p:nvSpPr>
          <p:cNvPr id="19" name="Shape 17"/>
          <p:cNvSpPr/>
          <p:nvPr/>
        </p:nvSpPr>
        <p:spPr>
          <a:xfrm>
            <a:off x="8970264" y="1828800"/>
            <a:ext cx="2651760" cy="2514600"/>
          </a:xfrm>
          <a:prstGeom prst="rect">
            <a:avLst/>
          </a:prstGeom>
          <a:solidFill>
            <a:srgbClr val="F8F8F8"/>
          </a:solidFill>
          <a:ln w="12700">
            <a:solidFill>
              <a:srgbClr val="E9EFF4"/>
            </a:solidFill>
            <a:prstDash val="solid"/>
          </a:ln>
        </p:spPr>
      </p:sp>
      <p:sp>
        <p:nvSpPr>
          <p:cNvPr id="20" name="Shape 18"/>
          <p:cNvSpPr/>
          <p:nvPr/>
        </p:nvSpPr>
        <p:spPr>
          <a:xfrm>
            <a:off x="8970264" y="1828800"/>
            <a:ext cx="2651760" cy="73152"/>
          </a:xfrm>
          <a:prstGeom prst="rect">
            <a:avLst/>
          </a:prstGeom>
          <a:solidFill>
            <a:srgbClr val="2F343A"/>
          </a:solidFill>
          <a:ln w="12700">
            <a:solidFill>
              <a:srgbClr val="2F343A"/>
            </a:solidFill>
            <a:prstDash val="solid"/>
          </a:ln>
        </p:spPr>
      </p:sp>
      <p:sp>
        <p:nvSpPr>
          <p:cNvPr id="21" name="Text 19"/>
          <p:cNvSpPr/>
          <p:nvPr/>
        </p:nvSpPr>
        <p:spPr>
          <a:xfrm>
            <a:off x="9171432"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4. Earn links to what sells</a:t>
            </a:r>
            <a:endParaRPr lang="en-US" sz="1500" dirty="0"/>
          </a:p>
        </p:txBody>
      </p:sp>
      <p:sp>
        <p:nvSpPr>
          <p:cNvPr id="22" name="Text 20"/>
          <p:cNvSpPr/>
          <p:nvPr/>
        </p:nvSpPr>
        <p:spPr>
          <a:xfrm>
            <a:off x="9171432"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No paid links. One original data report a quarter from your anonymized spend data, templates and tools people link to naturally, and your strongest pages linking to the comparison pages.</a:t>
            </a:r>
            <a:endParaRPr lang="en-US" sz="1150" dirty="0"/>
          </a:p>
        </p:txBody>
      </p:sp>
      <p:sp>
        <p:nvSpPr>
          <p:cNvPr id="23" name="Text 21"/>
          <p:cNvSpPr/>
          <p:nvPr/>
        </p:nvSpPr>
        <p:spPr>
          <a:xfrm>
            <a:off x="548640" y="4526280"/>
            <a:ext cx="11064240" cy="960120"/>
          </a:xfrm>
          <a:prstGeom prst="rect">
            <a:avLst/>
          </a:prstGeom>
          <a:noFill/>
          <a:ln/>
        </p:spPr>
        <p:txBody>
          <a:bodyPr wrap="square" lIns="0" tIns="0" rIns="0" bIns="0" rtlCol="0" anchor="t"/>
          <a:lstStyle/>
          <a:p>
            <a:pPr indent="0" marL="0">
              <a:buNone/>
            </a:pPr>
            <a:r>
              <a:rPr lang="en-US" sz="1300" b="1" dirty="0">
                <a:solidFill>
                  <a:srgbClr val="2F343A"/>
                </a:solidFill>
                <a:latin typeface="Arial" pitchFamily="34" charset="0"/>
                <a:ea typeface="Arial" pitchFamily="34" charset="-122"/>
                <a:cs typeface="Arial" pitchFamily="34" charset="-120"/>
              </a:rPr>
              <a:t>What ships in the first 30 days</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The "vs Ramp" rebuild, the biggest guide refreshed, the two expired pages redirected, the two off-topic pages removed, the duplicate merged, and the measurement set up so every later change can be proven.</a:t>
            </a:r>
            <a:endParaRPr lang="en-US" sz="1150" dirty="0"/>
          </a:p>
        </p:txBody>
      </p:sp>
      <p:sp>
        <p:nvSpPr>
          <p:cNvPr id="24" name="Shape 22"/>
          <p:cNvSpPr/>
          <p:nvPr/>
        </p:nvSpPr>
        <p:spPr>
          <a:xfrm>
            <a:off x="548640" y="5623560"/>
            <a:ext cx="11064240" cy="566928"/>
          </a:xfrm>
          <a:prstGeom prst="rect">
            <a:avLst/>
          </a:prstGeom>
          <a:solidFill>
            <a:srgbClr val="E9EFF4"/>
          </a:solidFill>
          <a:ln w="12700">
            <a:solidFill>
              <a:srgbClr val="E9EFF4"/>
            </a:solidFill>
            <a:prstDash val="solid"/>
          </a:ln>
        </p:spPr>
      </p:sp>
      <p:sp>
        <p:nvSpPr>
          <p:cNvPr id="25" name="Shape 23"/>
          <p:cNvSpPr/>
          <p:nvPr/>
        </p:nvSpPr>
        <p:spPr>
          <a:xfrm>
            <a:off x="548640" y="5623560"/>
            <a:ext cx="82296" cy="566928"/>
          </a:xfrm>
          <a:prstGeom prst="rect">
            <a:avLst/>
          </a:prstGeom>
          <a:solidFill>
            <a:srgbClr val="F27038"/>
          </a:solidFill>
          <a:ln w="12700">
            <a:solidFill>
              <a:srgbClr val="F27038"/>
            </a:solidFill>
            <a:prstDash val="solid"/>
          </a:ln>
        </p:spPr>
      </p:sp>
      <p:sp>
        <p:nvSpPr>
          <p:cNvPr id="26" name="Text 24"/>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Every one of the 400 posts gets one of four decisions: protect, refresh, merge or retire. About half get work; all of them get a decision.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COMPETITION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We will not out-publish Ramp. We win where they do not play.</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11</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Ramp's publishing pace from your brief; linking sites gained per month from a public backlink index, 12 months to September 2026</a:t>
            </a:r>
            <a:endParaRPr lang="en-US" sz="850" dirty="0"/>
          </a:p>
        </p:txBody>
      </p:sp>
      <p:sp>
        <p:nvSpPr>
          <p:cNvPr id="8" name="Shape 6"/>
          <p:cNvSpPr/>
          <p:nvPr/>
        </p:nvSpPr>
        <p:spPr>
          <a:xfrm>
            <a:off x="548640" y="1828800"/>
            <a:ext cx="3566160" cy="1188720"/>
          </a:xfrm>
          <a:prstGeom prst="rect">
            <a:avLst/>
          </a:prstGeom>
          <a:solidFill>
            <a:srgbClr val="F8F8F8"/>
          </a:solidFill>
          <a:ln w="12700">
            <a:solidFill>
              <a:srgbClr val="E9EFF4"/>
            </a:solidFill>
            <a:prstDash val="solid"/>
          </a:ln>
        </p:spPr>
      </p:sp>
      <p:sp>
        <p:nvSpPr>
          <p:cNvPr id="9" name="Text 7"/>
          <p:cNvSpPr/>
          <p:nvPr/>
        </p:nvSpPr>
        <p:spPr>
          <a:xfrm>
            <a:off x="731520" y="1938528"/>
            <a:ext cx="3200400" cy="59436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100 vs 48</a:t>
            </a:r>
            <a:endParaRPr lang="en-US" sz="3000" dirty="0"/>
          </a:p>
        </p:txBody>
      </p:sp>
      <p:sp>
        <p:nvSpPr>
          <p:cNvPr id="10" name="Text 8"/>
          <p:cNvSpPr/>
          <p:nvPr/>
        </p:nvSpPr>
        <p:spPr>
          <a:xfrm>
            <a:off x="731520" y="2482596"/>
            <a:ext cx="3200400" cy="475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posts a year: Ramp's pace against yours</a:t>
            </a:r>
            <a:endParaRPr lang="en-US" sz="1150" dirty="0"/>
          </a:p>
        </p:txBody>
      </p:sp>
      <p:sp>
        <p:nvSpPr>
          <p:cNvPr id="11" name="Shape 9"/>
          <p:cNvSpPr/>
          <p:nvPr/>
        </p:nvSpPr>
        <p:spPr>
          <a:xfrm>
            <a:off x="4297680" y="1828800"/>
            <a:ext cx="3566160" cy="1188720"/>
          </a:xfrm>
          <a:prstGeom prst="rect">
            <a:avLst/>
          </a:prstGeom>
          <a:solidFill>
            <a:srgbClr val="F8F8F8"/>
          </a:solidFill>
          <a:ln w="12700">
            <a:solidFill>
              <a:srgbClr val="E9EFF4"/>
            </a:solidFill>
            <a:prstDash val="solid"/>
          </a:ln>
        </p:spPr>
      </p:sp>
      <p:sp>
        <p:nvSpPr>
          <p:cNvPr id="12" name="Text 10"/>
          <p:cNvSpPr/>
          <p:nvPr/>
        </p:nvSpPr>
        <p:spPr>
          <a:xfrm>
            <a:off x="4480560" y="1938528"/>
            <a:ext cx="3200400" cy="59436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340</a:t>
            </a:r>
            <a:endParaRPr lang="en-US" sz="3000" dirty="0"/>
          </a:p>
        </p:txBody>
      </p:sp>
      <p:sp>
        <p:nvSpPr>
          <p:cNvPr id="13" name="Text 11"/>
          <p:cNvSpPr/>
          <p:nvPr/>
        </p:nvSpPr>
        <p:spPr>
          <a:xfrm>
            <a:off x="4480560" y="2482596"/>
            <a:ext cx="3200400" cy="475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new websites linking to Ramp every month</a:t>
            </a:r>
            <a:endParaRPr lang="en-US" sz="1150" dirty="0"/>
          </a:p>
        </p:txBody>
      </p:sp>
      <p:sp>
        <p:nvSpPr>
          <p:cNvPr id="14" name="Shape 12"/>
          <p:cNvSpPr/>
          <p:nvPr/>
        </p:nvSpPr>
        <p:spPr>
          <a:xfrm>
            <a:off x="8046720" y="1828800"/>
            <a:ext cx="3566160" cy="1188720"/>
          </a:xfrm>
          <a:prstGeom prst="rect">
            <a:avLst/>
          </a:prstGeom>
          <a:solidFill>
            <a:srgbClr val="2F343A"/>
          </a:solidFill>
          <a:ln w="12700">
            <a:solidFill>
              <a:srgbClr val="2F343A"/>
            </a:solidFill>
            <a:prstDash val="solid"/>
          </a:ln>
        </p:spPr>
      </p:sp>
      <p:sp>
        <p:nvSpPr>
          <p:cNvPr id="15" name="Text 13"/>
          <p:cNvSpPr/>
          <p:nvPr/>
        </p:nvSpPr>
        <p:spPr>
          <a:xfrm>
            <a:off x="8229600" y="1938528"/>
            <a:ext cx="3200400" cy="59436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5x</a:t>
            </a:r>
            <a:endParaRPr lang="en-US" sz="3000" dirty="0"/>
          </a:p>
        </p:txBody>
      </p:sp>
      <p:sp>
        <p:nvSpPr>
          <p:cNvPr id="16" name="Text 14"/>
          <p:cNvSpPr/>
          <p:nvPr/>
        </p:nvSpPr>
        <p:spPr>
          <a:xfrm>
            <a:off x="8229600" y="2482596"/>
            <a:ext cx="3200400" cy="475488"/>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your traffic. Ramp is a much bigger site</a:t>
            </a:r>
            <a:endParaRPr lang="en-US" sz="1150" dirty="0"/>
          </a:p>
        </p:txBody>
      </p:sp>
      <p:sp>
        <p:nvSpPr>
          <p:cNvPr id="17" name="Shape 15"/>
          <p:cNvSpPr/>
          <p:nvPr/>
        </p:nvSpPr>
        <p:spPr>
          <a:xfrm>
            <a:off x="548640" y="3200400"/>
            <a:ext cx="3566160" cy="2286000"/>
          </a:xfrm>
          <a:prstGeom prst="rect">
            <a:avLst/>
          </a:prstGeom>
          <a:solidFill>
            <a:srgbClr val="F8F8F8"/>
          </a:solidFill>
          <a:ln w="12700">
            <a:solidFill>
              <a:srgbClr val="E9EFF4"/>
            </a:solidFill>
            <a:prstDash val="solid"/>
          </a:ln>
        </p:spPr>
      </p:sp>
      <p:sp>
        <p:nvSpPr>
          <p:cNvPr id="18" name="Shape 16"/>
          <p:cNvSpPr/>
          <p:nvPr/>
        </p:nvSpPr>
        <p:spPr>
          <a:xfrm>
            <a:off x="548640" y="3200400"/>
            <a:ext cx="3566160" cy="73152"/>
          </a:xfrm>
          <a:prstGeom prst="rect">
            <a:avLst/>
          </a:prstGeom>
          <a:solidFill>
            <a:srgbClr val="F27038"/>
          </a:solidFill>
          <a:ln w="12700">
            <a:solidFill>
              <a:srgbClr val="F27038"/>
            </a:solidFill>
            <a:prstDash val="solid"/>
          </a:ln>
        </p:spPr>
      </p:sp>
      <p:sp>
        <p:nvSpPr>
          <p:cNvPr id="19" name="Text 17"/>
          <p:cNvSpPr/>
          <p:nvPr/>
        </p:nvSpPr>
        <p:spPr>
          <a:xfrm>
            <a:off x="74980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Fight</a:t>
            </a:r>
            <a:endParaRPr lang="en-US" sz="1500" dirty="0"/>
          </a:p>
        </p:txBody>
      </p:sp>
      <p:sp>
        <p:nvSpPr>
          <p:cNvPr id="20" name="Text 18"/>
          <p:cNvSpPr/>
          <p:nvPr/>
        </p:nvSpPr>
        <p:spPr>
          <a:xfrm>
            <a:off x="74980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Comparison and alternatives pages (your highest-value traffic). The corporate card decision guide. The core expense management guides, on depth and freshness.</a:t>
            </a:r>
            <a:endParaRPr lang="en-US" sz="1150" dirty="0"/>
          </a:p>
        </p:txBody>
      </p:sp>
      <p:sp>
        <p:nvSpPr>
          <p:cNvPr id="21" name="Shape 19"/>
          <p:cNvSpPr/>
          <p:nvPr/>
        </p:nvSpPr>
        <p:spPr>
          <a:xfrm>
            <a:off x="4297680" y="3200400"/>
            <a:ext cx="3566160" cy="2286000"/>
          </a:xfrm>
          <a:prstGeom prst="rect">
            <a:avLst/>
          </a:prstGeom>
          <a:solidFill>
            <a:srgbClr val="F8F8F8"/>
          </a:solidFill>
          <a:ln w="12700">
            <a:solidFill>
              <a:srgbClr val="E9EFF4"/>
            </a:solidFill>
            <a:prstDash val="solid"/>
          </a:ln>
        </p:spPr>
      </p:sp>
      <p:sp>
        <p:nvSpPr>
          <p:cNvPr id="22" name="Shape 20"/>
          <p:cNvSpPr/>
          <p:nvPr/>
        </p:nvSpPr>
        <p:spPr>
          <a:xfrm>
            <a:off x="4297680" y="3200400"/>
            <a:ext cx="3566160" cy="73152"/>
          </a:xfrm>
          <a:prstGeom prst="rect">
            <a:avLst/>
          </a:prstGeom>
          <a:solidFill>
            <a:srgbClr val="EFB438"/>
          </a:solidFill>
          <a:ln w="12700">
            <a:solidFill>
              <a:srgbClr val="EFB438"/>
            </a:solidFill>
            <a:prstDash val="solid"/>
          </a:ln>
        </p:spPr>
      </p:sp>
      <p:sp>
        <p:nvSpPr>
          <p:cNvPr id="23" name="Text 21"/>
          <p:cNvSpPr/>
          <p:nvPr/>
        </p:nvSpPr>
        <p:spPr>
          <a:xfrm>
            <a:off x="449884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Flank</a:t>
            </a:r>
            <a:endParaRPr lang="en-US" sz="1500" dirty="0"/>
          </a:p>
        </p:txBody>
      </p:sp>
      <p:sp>
        <p:nvSpPr>
          <p:cNvPr id="24" name="Text 22"/>
          <p:cNvSpPr/>
          <p:nvPr/>
        </p:nvSpPr>
        <p:spPr>
          <a:xfrm>
            <a:off x="449884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Templates and tools: policy templates, category sheets, a mileage calculator. Original data from your spend data. The spend management topic, where you are already growing.</a:t>
            </a:r>
            <a:endParaRPr lang="en-US" sz="1150" dirty="0"/>
          </a:p>
        </p:txBody>
      </p:sp>
      <p:sp>
        <p:nvSpPr>
          <p:cNvPr id="25" name="Shape 23"/>
          <p:cNvSpPr/>
          <p:nvPr/>
        </p:nvSpPr>
        <p:spPr>
          <a:xfrm>
            <a:off x="8046720" y="3200400"/>
            <a:ext cx="3566160" cy="2286000"/>
          </a:xfrm>
          <a:prstGeom prst="rect">
            <a:avLst/>
          </a:prstGeom>
          <a:solidFill>
            <a:srgbClr val="F8F8F8"/>
          </a:solidFill>
          <a:ln w="12700">
            <a:solidFill>
              <a:srgbClr val="E9EFF4"/>
            </a:solidFill>
            <a:prstDash val="solid"/>
          </a:ln>
        </p:spPr>
      </p:sp>
      <p:sp>
        <p:nvSpPr>
          <p:cNvPr id="26" name="Shape 24"/>
          <p:cNvSpPr/>
          <p:nvPr/>
        </p:nvSpPr>
        <p:spPr>
          <a:xfrm>
            <a:off x="8046720" y="3200400"/>
            <a:ext cx="3566160" cy="73152"/>
          </a:xfrm>
          <a:prstGeom prst="rect">
            <a:avLst/>
          </a:prstGeom>
          <a:solidFill>
            <a:srgbClr val="929194"/>
          </a:solidFill>
          <a:ln w="12700">
            <a:solidFill>
              <a:srgbClr val="929194"/>
            </a:solidFill>
            <a:prstDash val="solid"/>
          </a:ln>
        </p:spPr>
      </p:sp>
      <p:sp>
        <p:nvSpPr>
          <p:cNvPr id="27" name="Text 25"/>
          <p:cNvSpPr/>
          <p:nvPr/>
        </p:nvSpPr>
        <p:spPr>
          <a:xfrm>
            <a:off x="824788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Concede</a:t>
            </a:r>
            <a:endParaRPr lang="en-US" sz="1500" dirty="0"/>
          </a:p>
        </p:txBody>
      </p:sp>
      <p:sp>
        <p:nvSpPr>
          <p:cNvPr id="28" name="Text 26"/>
          <p:cNvSpPr/>
          <p:nvPr/>
        </p:nvSpPr>
        <p:spPr>
          <a:xfrm>
            <a:off x="824788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Generic finance education (invoicing, bookkeeping, accounting software lists). Per diem and tax deadline rate pages that government sites own. Consumer searches like receipt scanning apps.</a:t>
            </a:r>
            <a:endParaRPr lang="en-US" sz="1150" dirty="0"/>
          </a:p>
        </p:txBody>
      </p:sp>
      <p:sp>
        <p:nvSpPr>
          <p:cNvPr id="29" name="Shape 27"/>
          <p:cNvSpPr/>
          <p:nvPr/>
        </p:nvSpPr>
        <p:spPr>
          <a:xfrm>
            <a:off x="548640" y="5623560"/>
            <a:ext cx="11064240" cy="566928"/>
          </a:xfrm>
          <a:prstGeom prst="rect">
            <a:avLst/>
          </a:prstGeom>
          <a:solidFill>
            <a:srgbClr val="E9EFF4"/>
          </a:solidFill>
          <a:ln w="12700">
            <a:solidFill>
              <a:srgbClr val="E9EFF4"/>
            </a:solidFill>
            <a:prstDash val="solid"/>
          </a:ln>
        </p:spPr>
      </p:sp>
      <p:sp>
        <p:nvSpPr>
          <p:cNvPr id="30" name="Shape 28"/>
          <p:cNvSpPr/>
          <p:nvPr/>
        </p:nvSpPr>
        <p:spPr>
          <a:xfrm>
            <a:off x="548640" y="5623560"/>
            <a:ext cx="82296" cy="566928"/>
          </a:xfrm>
          <a:prstGeom prst="rect">
            <a:avLst/>
          </a:prstGeom>
          <a:solidFill>
            <a:srgbClr val="F27038"/>
          </a:solidFill>
          <a:ln w="12700">
            <a:solidFill>
              <a:srgbClr val="F27038"/>
            </a:solidFill>
            <a:prstDash val="solid"/>
          </a:ln>
        </p:spPr>
      </p:sp>
      <p:sp>
        <p:nvSpPr>
          <p:cNvPr id="31" name="Text 2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Ramp is a volume publisher. Volume is the one game we cannot win on this budget, so we do not enter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TO EXPECT</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By month 12: about twice the leads from search, and traffic back to roughly 117K. Not 140K, and here is why.</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12</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Projection, not a forecast. Every assumption is listed in the working model and gets replaced with measured numbers at day 90.</a:t>
            </a:r>
            <a:endParaRPr lang="en-US" sz="850" dirty="0"/>
          </a:p>
        </p:txBody>
      </p:sp>
      <p:graphicFrame>
        <p:nvGraphicFramePr>
          <p:cNvPr id="8" name="Chart 0" descr=""/>
          <p:cNvGraphicFramePr/>
          <p:nvPr/>
        </p:nvGraphicFramePr>
        <p:xfrm>
          <a:off x="548640" y="1828800"/>
          <a:ext cx="548640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17920" y="1828800"/>
          <a:ext cx="5394960" cy="32004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548640" y="5074920"/>
            <a:ext cx="11064240" cy="548640"/>
          </a:xfrm>
          <a:prstGeom prst="rect">
            <a:avLst/>
          </a:prstGeom>
          <a:noFill/>
          <a:ln/>
        </p:spPr>
        <p:txBody>
          <a:bodyPr wrap="square" lIns="0" tIns="0" rIns="0" bIns="0" rtlCol="0" anchor="t"/>
          <a:lstStyle/>
          <a:p>
            <a:pPr indent="0" marL="0">
              <a:buNone/>
            </a:pPr>
            <a:r>
              <a:rPr lang="en-US" sz="1100" dirty="0">
                <a:solidFill>
                  <a:srgbClr val="6C757D"/>
                </a:solidFill>
                <a:latin typeface="Arial" pitchFamily="34" charset="0"/>
                <a:ea typeface="Arial" pitchFamily="34" charset="-122"/>
                <a:cs typeface="Arial" pitchFamily="34" charset="-120"/>
              </a:rPr>
              <a:t>Why not 140K: your biggest searches now have an AI answer on top, and the two expired pages were queries that government sites now own. The old pages top out near 117K even if every refresh works. Anything above that comes from new comparison pages and templates. We would rather tell you this now than explain it in month 12.</a:t>
            </a:r>
            <a:endParaRPr lang="en-US" sz="1100" dirty="0"/>
          </a:p>
        </p:txBody>
      </p:sp>
      <p:sp>
        <p:nvSpPr>
          <p:cNvPr id="11" name="Shape 7"/>
          <p:cNvSpPr/>
          <p:nvPr/>
        </p:nvSpPr>
        <p:spPr>
          <a:xfrm>
            <a:off x="548640" y="5715000"/>
            <a:ext cx="11064240" cy="502920"/>
          </a:xfrm>
          <a:prstGeom prst="rect">
            <a:avLst/>
          </a:prstGeom>
          <a:solidFill>
            <a:srgbClr val="E9EFF4"/>
          </a:solidFill>
          <a:ln w="12700">
            <a:solidFill>
              <a:srgbClr val="E9EFF4"/>
            </a:solidFill>
            <a:prstDash val="solid"/>
          </a:ln>
        </p:spPr>
      </p:sp>
      <p:sp>
        <p:nvSpPr>
          <p:cNvPr id="12" name="Shape 8"/>
          <p:cNvSpPr/>
          <p:nvPr/>
        </p:nvSpPr>
        <p:spPr>
          <a:xfrm>
            <a:off x="548640" y="5715000"/>
            <a:ext cx="82296" cy="502920"/>
          </a:xfrm>
          <a:prstGeom prst="rect">
            <a:avLst/>
          </a:prstGeom>
          <a:solidFill>
            <a:srgbClr val="F27038"/>
          </a:solidFill>
          <a:ln w="12700">
            <a:solidFill>
              <a:srgbClr val="F27038"/>
            </a:solidFill>
            <a:prstDash val="solid"/>
          </a:ln>
        </p:spPr>
      </p:sp>
      <p:sp>
        <p:nvSpPr>
          <p:cNvPr id="13" name="Text 9"/>
          <p:cNvSpPr/>
          <p:nvPr/>
        </p:nvSpPr>
        <p:spPr>
          <a:xfrm>
            <a:off x="777240" y="5715000"/>
            <a:ext cx="10698480" cy="502920"/>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traffic line recovers. The leads line is the one we are accountable for, and it moves faster because the first fixes land on the pages that convert.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FIRST 90 DAYS</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You will see the first signals within 90 days, and we have agreed in advance what we do if they do not move.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108960"/>
                <a:gridCol w="3566160"/>
                <a:gridCol w="4389120"/>
              </a:tblGrid>
              <a:tr h="566928">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we watch</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Target by day 90</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If it does not move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Rankings for your four most important searches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"vs Ramp" back in the top 8; the two big guides up 2 places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The problem is page format and authority. We shift budget from rewriting to the data report and change the page format.</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Refreshed pages against a matched set we leave alone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Refreshed pages get 20% more impressions than the untouched set</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We stop at 24 refreshes and go back to the data before spending more.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Leads from the comparison pages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Lead rate up 25% on the rebuilt pages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The offer, not the page, is the problem. We hand it to product marketing.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Clean-up done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Expired pages redirected, duplicate merged, off-topic pages removed</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This one is simply done or not done.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Page speed on the blog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Blog loads under 2.5 seconds in testing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We escalate to the next engineering sprint rather than spending the first one twice.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5623560"/>
            <a:ext cx="11064240" cy="566928"/>
          </a:xfrm>
          <a:prstGeom prst="rect">
            <a:avLst/>
          </a:prstGeom>
          <a:solidFill>
            <a:srgbClr val="E9EFF4"/>
          </a:solidFill>
          <a:ln w="12700">
            <a:solidFill>
              <a:srgbClr val="E9EFF4"/>
            </a:solidFill>
            <a:prstDash val="solid"/>
          </a:ln>
        </p:spPr>
      </p:sp>
      <p:sp>
        <p:nvSpPr>
          <p:cNvPr id="9" name="Shape 6"/>
          <p:cNvSpPr/>
          <p:nvPr/>
        </p:nvSpPr>
        <p:spPr>
          <a:xfrm>
            <a:off x="548640" y="5623560"/>
            <a:ext cx="82296" cy="566928"/>
          </a:xfrm>
          <a:prstGeom prst="rect">
            <a:avLst/>
          </a:prstGeom>
          <a:solidFill>
            <a:srgbClr val="F27038"/>
          </a:solidFill>
          <a:ln w="12700">
            <a:solidFill>
              <a:srgbClr val="F27038"/>
            </a:solidFill>
            <a:prstDash val="solid"/>
          </a:ln>
        </p:spPr>
      </p:sp>
      <p:sp>
        <p:nvSpPr>
          <p:cNvPr id="10" name="Text 7"/>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No waiting a year to find out. Each signal has a number attached and a pre-agreed response.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WE NEED FROM YOU</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Three decisions and five pieces of data, all in week 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14</a:t>
            </a:r>
            <a:endParaRPr lang="en-US" sz="1000" dirty="0"/>
          </a:p>
        </p:txBody>
      </p:sp>
      <p:sp>
        <p:nvSpPr>
          <p:cNvPr id="7" name="Shape 5"/>
          <p:cNvSpPr/>
          <p:nvPr/>
        </p:nvSpPr>
        <p:spPr>
          <a:xfrm>
            <a:off x="548640" y="1828800"/>
            <a:ext cx="5394960" cy="3611880"/>
          </a:xfrm>
          <a:prstGeom prst="rect">
            <a:avLst/>
          </a:prstGeom>
          <a:solidFill>
            <a:srgbClr val="F8F8F8"/>
          </a:solidFill>
          <a:ln w="12700">
            <a:solidFill>
              <a:srgbClr val="E9EFF4"/>
            </a:solidFill>
            <a:prstDash val="solid"/>
          </a:ln>
        </p:spPr>
      </p:sp>
      <p:sp>
        <p:nvSpPr>
          <p:cNvPr id="8" name="Shape 6"/>
          <p:cNvSpPr/>
          <p:nvPr/>
        </p:nvSpPr>
        <p:spPr>
          <a:xfrm>
            <a:off x="548640" y="1828800"/>
            <a:ext cx="5394960" cy="73152"/>
          </a:xfrm>
          <a:prstGeom prst="rect">
            <a:avLst/>
          </a:prstGeom>
          <a:solidFill>
            <a:srgbClr val="F27038"/>
          </a:solidFill>
          <a:ln w="12700">
            <a:solidFill>
              <a:srgbClr val="F27038"/>
            </a:solidFill>
            <a:prstDash val="solid"/>
          </a:ln>
        </p:spPr>
      </p:sp>
      <p:sp>
        <p:nvSpPr>
          <p:cNvPr id="9" name="Text 7"/>
          <p:cNvSpPr/>
          <p:nvPr/>
        </p:nvSpPr>
        <p:spPr>
          <a:xfrm>
            <a:off x="749808" y="2011680"/>
            <a:ext cx="49926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Decisions</a:t>
            </a:r>
            <a:endParaRPr lang="en-US" sz="1500" dirty="0"/>
          </a:p>
        </p:txBody>
      </p:sp>
      <p:sp>
        <p:nvSpPr>
          <p:cNvPr id="10" name="Text 8"/>
          <p:cNvSpPr/>
          <p:nvPr/>
        </p:nvSpPr>
        <p:spPr>
          <a:xfrm>
            <a:off x="749808" y="2606040"/>
            <a:ext cx="4992624" cy="2715768"/>
          </a:xfrm>
          <a:prstGeom prst="rect">
            <a:avLst/>
          </a:prstGeom>
          <a:noFill/>
          <a:ln/>
        </p:spPr>
        <p:txBody>
          <a:bodyPr wrap="square" lIns="0" tIns="0" rIns="0" bIns="0" rtlCol="0" anchor="t"/>
          <a:lstStyle/>
          <a:p>
            <a:pPr indent="0" marL="0">
              <a:buNone/>
            </a:pPr>
            <a:endParaRPr lang="en-US" sz="1150" dirty="0"/>
          </a:p>
        </p:txBody>
      </p:sp>
      <p:sp>
        <p:nvSpPr>
          <p:cNvPr id="11" name="Text 9"/>
          <p:cNvSpPr/>
          <p:nvPr/>
        </p:nvSpPr>
        <p:spPr>
          <a:xfrm>
            <a:off x="777240" y="2514600"/>
            <a:ext cx="4937760" cy="274320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Sign off on the KPI: qualified leads from search, by page.</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Agree in writing what counts as a lead. A demo request yes, a template download no.</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Legal sign-off to publish anonymized, aggregated spend data as a research report.</a:t>
            </a:r>
            <a:endParaRPr lang="en-US" sz="1250" dirty="0"/>
          </a:p>
        </p:txBody>
      </p:sp>
      <p:sp>
        <p:nvSpPr>
          <p:cNvPr id="12" name="Shape 10"/>
          <p:cNvSpPr/>
          <p:nvPr/>
        </p:nvSpPr>
        <p:spPr>
          <a:xfrm>
            <a:off x="6217920" y="1828800"/>
            <a:ext cx="5394960" cy="3611880"/>
          </a:xfrm>
          <a:prstGeom prst="rect">
            <a:avLst/>
          </a:prstGeom>
          <a:solidFill>
            <a:srgbClr val="F8F8F8"/>
          </a:solidFill>
          <a:ln w="12700">
            <a:solidFill>
              <a:srgbClr val="E9EFF4"/>
            </a:solidFill>
            <a:prstDash val="solid"/>
          </a:ln>
        </p:spPr>
      </p:sp>
      <p:sp>
        <p:nvSpPr>
          <p:cNvPr id="13" name="Shape 11"/>
          <p:cNvSpPr/>
          <p:nvPr/>
        </p:nvSpPr>
        <p:spPr>
          <a:xfrm>
            <a:off x="6217920" y="1828800"/>
            <a:ext cx="5394960" cy="73152"/>
          </a:xfrm>
          <a:prstGeom prst="rect">
            <a:avLst/>
          </a:prstGeom>
          <a:solidFill>
            <a:srgbClr val="2F343A"/>
          </a:solidFill>
          <a:ln w="12700">
            <a:solidFill>
              <a:srgbClr val="2F343A"/>
            </a:solidFill>
            <a:prstDash val="solid"/>
          </a:ln>
        </p:spPr>
      </p:sp>
      <p:sp>
        <p:nvSpPr>
          <p:cNvPr id="14" name="Text 12"/>
          <p:cNvSpPr/>
          <p:nvPr/>
        </p:nvSpPr>
        <p:spPr>
          <a:xfrm>
            <a:off x="6419088" y="2011680"/>
            <a:ext cx="49926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Data</a:t>
            </a:r>
            <a:endParaRPr lang="en-US" sz="1500" dirty="0"/>
          </a:p>
        </p:txBody>
      </p:sp>
      <p:sp>
        <p:nvSpPr>
          <p:cNvPr id="15" name="Text 13"/>
          <p:cNvSpPr/>
          <p:nvPr/>
        </p:nvSpPr>
        <p:spPr>
          <a:xfrm>
            <a:off x="6419088" y="2606040"/>
            <a:ext cx="4992624" cy="2715768"/>
          </a:xfrm>
          <a:prstGeom prst="rect">
            <a:avLst/>
          </a:prstGeom>
          <a:noFill/>
          <a:ln/>
        </p:spPr>
        <p:txBody>
          <a:bodyPr wrap="square" lIns="0" tIns="0" rIns="0" bIns="0" rtlCol="0" anchor="t"/>
          <a:lstStyle/>
          <a:p>
            <a:pPr indent="0" marL="0">
              <a:buNone/>
            </a:pPr>
            <a:endParaRPr lang="en-US" sz="1150" dirty="0"/>
          </a:p>
        </p:txBody>
      </p:sp>
      <p:sp>
        <p:nvSpPr>
          <p:cNvPr id="16" name="Text 14"/>
          <p:cNvSpPr/>
          <p:nvPr/>
        </p:nvSpPr>
        <p:spPr>
          <a:xfrm>
            <a:off x="6446520" y="2514600"/>
            <a:ext cx="4937760" cy="274320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Search Console access, full history (16 months).</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Analytics: visits and leads by landing page, this year and last.</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CRM: which leads became opportunities, by landing page.</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The last-modified date for every blog post from WordPress.</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One engineering sprint per quarter, confirmed in the calendar.</a:t>
            </a:r>
            <a:endParaRPr lang="en-US" sz="1250" dirty="0"/>
          </a:p>
        </p:txBody>
      </p:sp>
      <p:sp>
        <p:nvSpPr>
          <p:cNvPr id="17" name="Shape 15"/>
          <p:cNvSpPr/>
          <p:nvPr/>
        </p:nvSpPr>
        <p:spPr>
          <a:xfrm>
            <a:off x="548640" y="5623560"/>
            <a:ext cx="11064240" cy="566928"/>
          </a:xfrm>
          <a:prstGeom prst="rect">
            <a:avLst/>
          </a:prstGeom>
          <a:solidFill>
            <a:srgbClr val="E9EFF4"/>
          </a:solidFill>
          <a:ln w="12700">
            <a:solidFill>
              <a:srgbClr val="E9EFF4"/>
            </a:solidFill>
            <a:prstDash val="solid"/>
          </a:ln>
        </p:spPr>
      </p:sp>
      <p:sp>
        <p:nvSpPr>
          <p:cNvPr id="18" name="Shape 16"/>
          <p:cNvSpPr/>
          <p:nvPr/>
        </p:nvSpPr>
        <p:spPr>
          <a:xfrm>
            <a:off x="548640" y="5623560"/>
            <a:ext cx="82296" cy="566928"/>
          </a:xfrm>
          <a:prstGeom prst="rect">
            <a:avLst/>
          </a:prstGeom>
          <a:solidFill>
            <a:srgbClr val="F27038"/>
          </a:solidFill>
          <a:ln w="12700">
            <a:solidFill>
              <a:srgbClr val="F27038"/>
            </a:solidFill>
            <a:prstDash val="solid"/>
          </a:ln>
        </p:spPr>
      </p:sp>
      <p:sp>
        <p:nvSpPr>
          <p:cNvPr id="19" name="Text 17"/>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With these in hand, the first fixes go live inside 30 days and the baseline is real, not estimated.</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20"/>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F27038"/>
          </a:solidFill>
          <a:ln w="12700">
            <a:solidFill>
              <a:srgbClr val="F27038"/>
            </a:solidFill>
            <a:prstDash val="solid"/>
          </a:ln>
        </p:spPr>
      </p:sp>
      <p:sp>
        <p:nvSpPr>
          <p:cNvPr id="3" name="Text 1"/>
          <p:cNvSpPr/>
          <p:nvPr/>
        </p:nvSpPr>
        <p:spPr>
          <a:xfrm>
            <a:off x="822960" y="548640"/>
            <a:ext cx="2011680" cy="3657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Single</a:t>
            </a:r>
            <a:pPr indent="0" marL="0">
              <a:buNone/>
            </a:pPr>
            <a:r>
              <a:rPr lang="en-US" sz="2000" b="1" dirty="0">
                <a:solidFill>
                  <a:srgbClr val="F27038"/>
                </a:solidFill>
                <a:latin typeface="Arial" pitchFamily="34" charset="0"/>
                <a:ea typeface="Arial" pitchFamily="34" charset="-122"/>
                <a:cs typeface="Arial" pitchFamily="34" charset="-120"/>
              </a:rPr>
              <a:t>Grain</a:t>
            </a:r>
            <a:endParaRPr lang="en-US" sz="2000" dirty="0"/>
          </a:p>
        </p:txBody>
      </p:sp>
      <p:sp>
        <p:nvSpPr>
          <p:cNvPr id="4" name="Text 2"/>
          <p:cNvSpPr/>
          <p:nvPr/>
        </p:nvSpPr>
        <p:spPr>
          <a:xfrm>
            <a:off x="822960" y="1645920"/>
            <a:ext cx="10058400" cy="73152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Next steps</a:t>
            </a:r>
            <a:endParaRPr lang="en-US" sz="3400" dirty="0"/>
          </a:p>
        </p:txBody>
      </p:sp>
      <p:sp>
        <p:nvSpPr>
          <p:cNvPr id="5" name="Text 3"/>
          <p:cNvSpPr/>
          <p:nvPr/>
        </p:nvSpPr>
        <p:spPr>
          <a:xfrm>
            <a:off x="822960" y="2560320"/>
            <a:ext cx="1024128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This week: a 45-minute working session to agree the KPI and the lead definition.</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Week one: data access and the link check. You get a one-page diagnosis note.</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Day 30: the first seven fixes live and the measurement in place.</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Day 90: the five signals reviewed together, and the decision to continue, adjust or re-diagnose.</a:t>
            </a:r>
            <a:endParaRPr lang="en-US" sz="1600" dirty="0"/>
          </a:p>
        </p:txBody>
      </p:sp>
      <p:sp>
        <p:nvSpPr>
          <p:cNvPr id="6" name="Shape 4"/>
          <p:cNvSpPr/>
          <p:nvPr/>
        </p:nvSpPr>
        <p:spPr>
          <a:xfrm>
            <a:off x="822960" y="5120640"/>
            <a:ext cx="1463040" cy="54864"/>
          </a:xfrm>
          <a:prstGeom prst="rect">
            <a:avLst/>
          </a:prstGeom>
          <a:solidFill>
            <a:srgbClr val="F27038"/>
          </a:solidFill>
          <a:ln w="12700">
            <a:solidFill>
              <a:srgbClr val="F27038"/>
            </a:solidFill>
            <a:prstDash val="solid"/>
          </a:ln>
        </p:spPr>
      </p:sp>
      <p:sp>
        <p:nvSpPr>
          <p:cNvPr id="7" name="Text 5"/>
          <p:cNvSpPr/>
          <p:nvPr/>
        </p:nvSpPr>
        <p:spPr>
          <a:xfrm>
            <a:off x="822960" y="5303520"/>
            <a:ext cx="7315200" cy="7315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Qasim Khursheed, Single Grain</a:t>
            </a:r>
            <a:endParaRPr lang="en-US" sz="1300" dirty="0"/>
          </a:p>
          <a:p>
            <a:pPr indent="0" marL="0">
              <a:buNone/>
            </a:pPr>
            <a:r>
              <a:rPr lang="en-US" sz="1300" dirty="0">
                <a:solidFill>
                  <a:srgbClr val="929194"/>
                </a:solidFill>
                <a:latin typeface="Arial" pitchFamily="34" charset="0"/>
                <a:ea typeface="Arial" pitchFamily="34" charset="-122"/>
                <a:cs typeface="Arial" pitchFamily="34" charset="-120"/>
              </a:rPr>
              <a:t>khursheed-qasim@outlook.com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Single Grain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Organic search recovery plan</dc:title>
  <dc:subject>PptxGenJS Presentation</dc:subject>
  <dc:creator>Qasim Khursheed</dc:creator>
  <cp:lastModifiedBy>Qasim Khursheed</cp:lastModifiedBy>
  <cp:revision>1</cp:revision>
  <dcterms:created xsi:type="dcterms:W3CDTF">2026-10-12T19:29:17Z</dcterms:created>
  <dcterms:modified xsi:type="dcterms:W3CDTF">2026-10-12T19:29:17Z</dcterms:modified>
</cp:coreProperties>
</file>